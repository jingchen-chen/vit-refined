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034" r:id="rId3"/>
    <p:sldId id="2036" r:id="rId4"/>
    <p:sldId id="2026" r:id="rId5"/>
    <p:sldId id="1996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769C"/>
    <a:srgbClr val="5DA494"/>
    <a:srgbClr val="F2F2F2"/>
    <a:srgbClr val="478BC2"/>
    <a:srgbClr val="5F99CA"/>
    <a:srgbClr val="76B2CF"/>
    <a:srgbClr val="97DBED"/>
    <a:srgbClr val="BFCAD1"/>
    <a:srgbClr val="033694"/>
    <a:srgbClr val="5482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594"/>
    <p:restoredTop sz="89726"/>
  </p:normalViewPr>
  <p:slideViewPr>
    <p:cSldViewPr snapToGrid="0">
      <p:cViewPr>
        <p:scale>
          <a:sx n="77" d="100"/>
          <a:sy n="77" d="100"/>
        </p:scale>
        <p:origin x="216" y="6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" d="100"/>
        <a:sy n="3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833EB0-6CC3-40A2-AFA0-F881D2349B47}" type="datetimeFigureOut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8B5084-72E2-4603-8700-242E581DF7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5151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B5084-72E2-4603-8700-242E581DF78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015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B5084-72E2-4603-8700-242E581DF78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70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B5084-72E2-4603-8700-242E581DF78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068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8B5084-72E2-4603-8700-242E581DF78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318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D5388A-51F1-4EE7-8A96-3C9126918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9C3C08-A214-4A73-957A-2641D9610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F6F70AC-E13E-4653-9053-A6796C55C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7FD2-D58D-7848-8BE3-172BAB952E41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89BAB-05F5-48E6-A1A2-B8BF624FE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2E2D87-E719-4A64-9A43-2099E3A5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545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75A0B6-C6FE-4304-9CF9-F606CAED6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202EE7-E6F6-4F41-9604-D9133A74A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BCE14E-5CD0-4A74-94FF-774ACDB00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5F668-2ADE-3842-BA89-0D9208FAC8AF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58950F-7D1F-47DD-A439-5DEE69C5F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7E8941-08D0-4907-B710-E5195611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9069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n-ea"/>
                <a:ea typeface="+mn-ea"/>
              </a:defRPr>
            </a:lvl1pPr>
          </a:lstStyle>
          <a:p>
            <a:fld id="{44B1877F-E277-41EB-B983-C8E25D9C29E3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83294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4065CD-1B10-46EF-A673-400DDA81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487AF-6A97-448F-8A73-1B46CB4F2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923A82-AA63-4E8E-98A8-B45EF075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D6CAB-3B98-6C45-95E4-975350956D70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DE5275F-8FDE-4A2D-A03A-DF5E6A613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DA71CE-0737-4A66-A089-549986371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19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0F94A7-BB21-4ECC-A1D3-ADCA2F183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726F79-37AC-4DD4-A2FB-94D822D57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B32C95-F135-4783-A08D-923A777DC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0A9408-3A20-49C4-A69E-649506BE2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75D0D-FA0C-824E-91F9-A81CC3006A16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AAD4D1-B8F6-42EF-A71B-86A66FB8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1FAD31-CFC8-4C7D-8E2F-FE9D2DE7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941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1CE41-57F7-4047-B399-E20BAA30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00090F-18DA-4FC2-916E-465B4BD76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159BFE-0200-4DF7-8E5A-44E998EEA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F6DC94-C57D-47BE-8E86-E85A917BA2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06ECC4E-C89C-41DB-A2DD-8F4076D74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2C45E23-8237-4B83-A5BC-061EBE596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1F5FE-7412-A24C-BFC4-4768F58392B0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E9742AD-27E0-4A45-A8C1-4F9457EE7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7BD35E-3E85-437B-A1CF-98D642CD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67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61CF4A-67B7-4818-A109-93D29305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58993DE-1A96-4186-BA23-29509675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17B0-DF2F-E349-B692-A798489CB114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E3F56B-57D6-44B6-8208-BF0C3C22E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11A217-8F7A-4556-A124-3AC396F7A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360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713E1D4-8ECD-49A4-9FB4-351BE1E6B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42442-A5E3-1D44-9A4C-56E24FDE5667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E84C82-FA50-4663-8F66-A6D43F693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00359CD-DECF-4BF0-85CE-95A0D91A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554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C2FF0-073D-4964-B380-8B8591F62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0C3787-30A7-4CCF-8FF4-032C7EDE0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B3E82D-7A2E-4ACB-B689-B6B510CFEF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5FF920-EF3B-4B8C-816E-13B71CD5E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55583-1418-D246-A233-D6C2A0FAF292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C1DE7A-CEC6-452C-A4C6-F586F487C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AFBAB57-16B3-44F1-9D69-1F2E2D1E8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509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4EFBC-0558-4620-8D81-E9C3D332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EAEA06-46C5-4BF5-BA57-F340467446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A4FCE4-1E71-4D7F-BAD0-F6398B0E7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5E1AB5-4AA7-4CF1-B18B-2A41A263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5E47-CE2D-3C49-A115-54B5DD949710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10A2D6-3281-44EF-87D0-DD22B1E6B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0E8756-D51C-44A8-A330-5837A4C08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582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AE93E0-C498-4554-A519-861EB02DE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83AE290-8765-487E-A9FE-5C32B901C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E46DE1-9B39-41CF-A230-8053E561E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81228-4DF8-4848-AA00-D449A6DBDCF8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A8233-EA2A-461C-A8B4-A23AC9D98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74A02D-FAD6-4FFD-8E9B-270867AE0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50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E6B8B38-0713-4CEA-8BC3-66B6E64BA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7E6D81B-E58B-4158-891C-C873108D7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C13C52-5C41-4B84-A578-18A3DE3DC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23A96-45EE-254C-97D7-159809EA265D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04F9A1-99A6-46F5-A8E2-CD493820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145D03-B129-4D86-8C3D-1188055C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605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B62983-9075-4273-9E33-4CE80CDB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2EBF1F-621C-458E-8576-81D8AC1D4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3615F5-D1E8-4827-A299-0B265F4F96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2CB331-AC83-1147-A95F-F288187C9D50}" type="datetime1">
              <a:rPr lang="zh-CN" altLang="en-US" smtClean="0"/>
              <a:t>2025/7/14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CE50AC-C411-4975-B789-A70BF24D8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7B51BA-4A7B-4E75-B491-E97A92D4E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1877F-E277-41EB-B983-C8E25D9C29E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496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AD58299-2A08-437F-DFCA-C8E457AEB9F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70"/>
          <a:stretch>
            <a:fillRect/>
          </a:stretch>
        </p:blipFill>
        <p:spPr bwMode="auto">
          <a:xfrm>
            <a:off x="10933480" y="160796"/>
            <a:ext cx="1076960" cy="9207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C851440-4558-F351-085F-D74A8EDAB242}"/>
              </a:ext>
            </a:extLst>
          </p:cNvPr>
          <p:cNvSpPr/>
          <p:nvPr/>
        </p:nvSpPr>
        <p:spPr>
          <a:xfrm>
            <a:off x="0" y="1351206"/>
            <a:ext cx="12192000" cy="3798446"/>
          </a:xfrm>
          <a:prstGeom prst="rect">
            <a:avLst/>
          </a:prstGeom>
          <a:solidFill>
            <a:srgbClr val="0336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33693"/>
              </a:solidFill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1214CE26-2640-5EEE-8594-2294FAA7903C}"/>
              </a:ext>
            </a:extLst>
          </p:cNvPr>
          <p:cNvSpPr txBox="1">
            <a:spLocks/>
          </p:cNvSpPr>
          <p:nvPr/>
        </p:nvSpPr>
        <p:spPr>
          <a:xfrm>
            <a:off x="989021" y="1862942"/>
            <a:ext cx="3844950" cy="10775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zh-CN" sz="5400" b="1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7.14</a:t>
            </a:r>
            <a:r>
              <a:rPr lang="zh-CN" altLang="en-US" sz="5400" b="1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 汇报</a:t>
            </a:r>
            <a:endParaRPr lang="en-GB" altLang="zh-CN" sz="5400" b="1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副标题 2">
            <a:extLst>
              <a:ext uri="{FF2B5EF4-FFF2-40B4-BE49-F238E27FC236}">
                <a16:creationId xmlns:a16="http://schemas.microsoft.com/office/drawing/2014/main" id="{5BE2D56C-7345-2CDE-BAB9-44A1AC8CC5D1}"/>
              </a:ext>
            </a:extLst>
          </p:cNvPr>
          <p:cNvSpPr txBox="1">
            <a:spLocks/>
          </p:cNvSpPr>
          <p:nvPr/>
        </p:nvSpPr>
        <p:spPr>
          <a:xfrm>
            <a:off x="989021" y="4456280"/>
            <a:ext cx="1442057" cy="3488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2025.7.14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880070C-94C8-0FFE-9718-68D7A456016B}"/>
              </a:ext>
            </a:extLst>
          </p:cNvPr>
          <p:cNvGrpSpPr/>
          <p:nvPr/>
        </p:nvGrpSpPr>
        <p:grpSpPr>
          <a:xfrm>
            <a:off x="1146183" y="190069"/>
            <a:ext cx="4235158" cy="946960"/>
            <a:chOff x="1146183" y="146683"/>
            <a:chExt cx="4235158" cy="94696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D7A3536-3AAB-F6AD-FCF8-F8C847F9BF2E}"/>
                </a:ext>
              </a:extLst>
            </p:cNvPr>
            <p:cNvSpPr txBox="1"/>
            <p:nvPr/>
          </p:nvSpPr>
          <p:spPr>
            <a:xfrm>
              <a:off x="2030842" y="146683"/>
              <a:ext cx="3339376" cy="7232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100" b="1" dirty="0">
                  <a:solidFill>
                    <a:srgbClr val="033693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深圳技术大学</a:t>
              </a: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8299DBEF-F997-519A-33D0-48A5966D0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183" y="190623"/>
              <a:ext cx="704753" cy="859798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0C6AEA9-4522-B622-5B0D-6C071D2B55D4}"/>
                </a:ext>
              </a:extLst>
            </p:cNvPr>
            <p:cNvSpPr txBox="1"/>
            <p:nvPr/>
          </p:nvSpPr>
          <p:spPr>
            <a:xfrm>
              <a:off x="2041965" y="785866"/>
              <a:ext cx="33393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370" b="1" dirty="0">
                  <a:solidFill>
                    <a:srgbClr val="033693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SHENZHEN TECHNOLOGY UNIVERSITY</a:t>
              </a:r>
              <a:endParaRPr kumimoji="1" lang="zh-CN" altLang="en-US" sz="1370" b="1" dirty="0">
                <a:solidFill>
                  <a:srgbClr val="033693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9F52BBA-E8F0-E3C2-8B79-0FB1708DFFF0}"/>
              </a:ext>
            </a:extLst>
          </p:cNvPr>
          <p:cNvGrpSpPr/>
          <p:nvPr/>
        </p:nvGrpSpPr>
        <p:grpSpPr>
          <a:xfrm>
            <a:off x="9015689" y="1507950"/>
            <a:ext cx="3136991" cy="3641702"/>
            <a:chOff x="5887126" y="1496114"/>
            <a:chExt cx="3136991" cy="3641702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E2431D5-73A2-B19C-2194-B84FB4504ECC}"/>
                </a:ext>
              </a:extLst>
            </p:cNvPr>
            <p:cNvGrpSpPr/>
            <p:nvPr/>
          </p:nvGrpSpPr>
          <p:grpSpPr>
            <a:xfrm>
              <a:off x="5887126" y="1496114"/>
              <a:ext cx="3136991" cy="3641702"/>
              <a:chOff x="6020233" y="1447919"/>
              <a:chExt cx="3136991" cy="3641702"/>
            </a:xfrm>
          </p:grpSpPr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588176B-7F8E-EA3A-7AE0-10DC6A479097}"/>
                  </a:ext>
                </a:extLst>
              </p:cNvPr>
              <p:cNvGrpSpPr/>
              <p:nvPr/>
            </p:nvGrpSpPr>
            <p:grpSpPr>
              <a:xfrm>
                <a:off x="6020233" y="1447919"/>
                <a:ext cx="2889676" cy="3641702"/>
                <a:chOff x="6020233" y="1447919"/>
                <a:chExt cx="2889676" cy="3641702"/>
              </a:xfrm>
            </p:grpSpPr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E1331E08-6AD5-C134-128E-041CDBC902CB}"/>
                    </a:ext>
                  </a:extLst>
                </p:cNvPr>
                <p:cNvGrpSpPr/>
                <p:nvPr/>
              </p:nvGrpSpPr>
              <p:grpSpPr>
                <a:xfrm>
                  <a:off x="6020233" y="1447919"/>
                  <a:ext cx="2889676" cy="3641702"/>
                  <a:chOff x="6020233" y="1447919"/>
                  <a:chExt cx="2889676" cy="3641702"/>
                </a:xfrm>
              </p:grpSpPr>
              <p:grpSp>
                <p:nvGrpSpPr>
                  <p:cNvPr id="59" name="组合 58">
                    <a:extLst>
                      <a:ext uri="{FF2B5EF4-FFF2-40B4-BE49-F238E27FC236}">
                        <a16:creationId xmlns:a16="http://schemas.microsoft.com/office/drawing/2014/main" id="{FCE75263-23B2-74A0-802D-583F5BDD1E21}"/>
                      </a:ext>
                    </a:extLst>
                  </p:cNvPr>
                  <p:cNvGrpSpPr/>
                  <p:nvPr/>
                </p:nvGrpSpPr>
                <p:grpSpPr>
                  <a:xfrm>
                    <a:off x="6020233" y="1447919"/>
                    <a:ext cx="2889676" cy="3641702"/>
                    <a:chOff x="8949365" y="1470356"/>
                    <a:chExt cx="2889676" cy="3641702"/>
                  </a:xfrm>
                </p:grpSpPr>
                <p:sp>
                  <p:nvSpPr>
                    <p:cNvPr id="61" name="矩形 60">
                      <a:extLst>
                        <a:ext uri="{FF2B5EF4-FFF2-40B4-BE49-F238E27FC236}">
                          <a16:creationId xmlns:a16="http://schemas.microsoft.com/office/drawing/2014/main" id="{AE8F1AE3-9D78-5151-802F-B06D551B75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4927" y="1470356"/>
                      <a:ext cx="2872638" cy="364170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sp>
                  <p:nvSpPr>
                    <p:cNvPr id="62" name="三角形 61">
                      <a:extLst>
                        <a:ext uri="{FF2B5EF4-FFF2-40B4-BE49-F238E27FC236}">
                          <a16:creationId xmlns:a16="http://schemas.microsoft.com/office/drawing/2014/main" id="{0B398E50-526E-7B5F-3FFC-1203B8BABC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9365" y="3975737"/>
                      <a:ext cx="1442057" cy="1136321"/>
                    </a:xfrm>
                    <a:prstGeom prst="triangle">
                      <a:avLst>
                        <a:gd name="adj" fmla="val 0"/>
                      </a:avLst>
                    </a:prstGeom>
                    <a:solidFill>
                      <a:srgbClr val="033693"/>
                    </a:solidFill>
                    <a:ln>
                      <a:solidFill>
                        <a:srgbClr val="03369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sp>
                  <p:nvSpPr>
                    <p:cNvPr id="63" name="三角形 62">
                      <a:extLst>
                        <a:ext uri="{FF2B5EF4-FFF2-40B4-BE49-F238E27FC236}">
                          <a16:creationId xmlns:a16="http://schemas.microsoft.com/office/drawing/2014/main" id="{A085A06F-1689-A636-5987-668B0C5D24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96984" y="3975736"/>
                      <a:ext cx="1442057" cy="1136321"/>
                    </a:xfrm>
                    <a:prstGeom prst="triangle">
                      <a:avLst>
                        <a:gd name="adj" fmla="val 100000"/>
                      </a:avLst>
                    </a:prstGeom>
                    <a:solidFill>
                      <a:srgbClr val="033693"/>
                    </a:solidFill>
                    <a:ln>
                      <a:solidFill>
                        <a:srgbClr val="03369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</p:grpSp>
              <p:sp>
                <p:nvSpPr>
                  <p:cNvPr id="60" name="任意形状 59">
                    <a:extLst>
                      <a:ext uri="{FF2B5EF4-FFF2-40B4-BE49-F238E27FC236}">
                        <a16:creationId xmlns:a16="http://schemas.microsoft.com/office/drawing/2014/main" id="{6972547A-28B1-8C12-0D0E-FE75B3ECC2AA}"/>
                      </a:ext>
                    </a:extLst>
                  </p:cNvPr>
                  <p:cNvSpPr/>
                  <p:nvPr/>
                </p:nvSpPr>
                <p:spPr>
                  <a:xfrm>
                    <a:off x="6081353" y="1506770"/>
                    <a:ext cx="2746842" cy="3442444"/>
                  </a:xfrm>
                  <a:custGeom>
                    <a:avLst/>
                    <a:gdLst>
                      <a:gd name="connsiteX0" fmla="*/ 0 w 2746842"/>
                      <a:gd name="connsiteY0" fmla="*/ 0 h 3442444"/>
                      <a:gd name="connsiteX1" fmla="*/ 0 w 2746842"/>
                      <a:gd name="connsiteY1" fmla="*/ 2354094 h 3442444"/>
                      <a:gd name="connsiteX2" fmla="*/ 1368208 w 2746842"/>
                      <a:gd name="connsiteY2" fmla="*/ 3442444 h 3442444"/>
                      <a:gd name="connsiteX3" fmla="*/ 2746842 w 2746842"/>
                      <a:gd name="connsiteY3" fmla="*/ 2338130 h 3442444"/>
                      <a:gd name="connsiteX4" fmla="*/ 2739808 w 2746842"/>
                      <a:gd name="connsiteY4" fmla="*/ 2893 h 3442444"/>
                      <a:gd name="connsiteX5" fmla="*/ 0 w 2746842"/>
                      <a:gd name="connsiteY5" fmla="*/ 0 h 34424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746842" h="3442444">
                        <a:moveTo>
                          <a:pt x="0" y="0"/>
                        </a:moveTo>
                        <a:lnTo>
                          <a:pt x="0" y="2354094"/>
                        </a:lnTo>
                        <a:lnTo>
                          <a:pt x="1368208" y="3442444"/>
                        </a:lnTo>
                        <a:lnTo>
                          <a:pt x="2746842" y="2338130"/>
                        </a:lnTo>
                        <a:cubicBezTo>
                          <a:pt x="2744497" y="1559718"/>
                          <a:pt x="2742153" y="781305"/>
                          <a:pt x="2739808" y="2893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  <p:grpSp>
              <p:nvGrpSpPr>
                <p:cNvPr id="50" name="组合 49">
                  <a:extLst>
                    <a:ext uri="{FF2B5EF4-FFF2-40B4-BE49-F238E27FC236}">
                      <a16:creationId xmlns:a16="http://schemas.microsoft.com/office/drawing/2014/main" id="{AE2A0CDF-E44F-ACA3-4272-461BA8D8F6A1}"/>
                    </a:ext>
                  </a:extLst>
                </p:cNvPr>
                <p:cNvGrpSpPr/>
                <p:nvPr/>
              </p:nvGrpSpPr>
              <p:grpSpPr>
                <a:xfrm>
                  <a:off x="6095418" y="3227992"/>
                  <a:ext cx="2720385" cy="356400"/>
                  <a:chOff x="9018697" y="3243601"/>
                  <a:chExt cx="2720385" cy="356400"/>
                </a:xfrm>
              </p:grpSpPr>
              <p:sp>
                <p:nvSpPr>
                  <p:cNvPr id="53" name="矩形 52">
                    <a:extLst>
                      <a:ext uri="{FF2B5EF4-FFF2-40B4-BE49-F238E27FC236}">
                        <a16:creationId xmlns:a16="http://schemas.microsoft.com/office/drawing/2014/main" id="{D1FFEBD7-8784-988D-0319-39BE8DABEC5C}"/>
                      </a:ext>
                    </a:extLst>
                  </p:cNvPr>
                  <p:cNvSpPr/>
                  <p:nvPr/>
                </p:nvSpPr>
                <p:spPr>
                  <a:xfrm>
                    <a:off x="9018697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4" name="矩形 53">
                    <a:extLst>
                      <a:ext uri="{FF2B5EF4-FFF2-40B4-BE49-F238E27FC236}">
                        <a16:creationId xmlns:a16="http://schemas.microsoft.com/office/drawing/2014/main" id="{29DE478C-E8BE-5D5C-A429-39C0E49E9FF8}"/>
                      </a:ext>
                    </a:extLst>
                  </p:cNvPr>
                  <p:cNvSpPr/>
                  <p:nvPr/>
                </p:nvSpPr>
                <p:spPr>
                  <a:xfrm>
                    <a:off x="9488614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5" name="矩形 54">
                    <a:extLst>
                      <a:ext uri="{FF2B5EF4-FFF2-40B4-BE49-F238E27FC236}">
                        <a16:creationId xmlns:a16="http://schemas.microsoft.com/office/drawing/2014/main" id="{4857F5D7-F026-FD9F-8890-37C44382ABFF}"/>
                      </a:ext>
                    </a:extLst>
                  </p:cNvPr>
                  <p:cNvSpPr/>
                  <p:nvPr/>
                </p:nvSpPr>
                <p:spPr>
                  <a:xfrm>
                    <a:off x="9958531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6" name="矩形 55">
                    <a:extLst>
                      <a:ext uri="{FF2B5EF4-FFF2-40B4-BE49-F238E27FC236}">
                        <a16:creationId xmlns:a16="http://schemas.microsoft.com/office/drawing/2014/main" id="{19264636-7814-5996-EC42-6FD6B008EE9A}"/>
                      </a:ext>
                    </a:extLst>
                  </p:cNvPr>
                  <p:cNvSpPr/>
                  <p:nvPr/>
                </p:nvSpPr>
                <p:spPr>
                  <a:xfrm>
                    <a:off x="10428448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7" name="矩形 56">
                    <a:extLst>
                      <a:ext uri="{FF2B5EF4-FFF2-40B4-BE49-F238E27FC236}">
                        <a16:creationId xmlns:a16="http://schemas.microsoft.com/office/drawing/2014/main" id="{98D2DE17-46DF-94D4-9931-E85021362EDD}"/>
                      </a:ext>
                    </a:extLst>
                  </p:cNvPr>
                  <p:cNvSpPr/>
                  <p:nvPr/>
                </p:nvSpPr>
                <p:spPr>
                  <a:xfrm>
                    <a:off x="10898365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8" name="矩形 57">
                    <a:extLst>
                      <a:ext uri="{FF2B5EF4-FFF2-40B4-BE49-F238E27FC236}">
                        <a16:creationId xmlns:a16="http://schemas.microsoft.com/office/drawing/2014/main" id="{D9395FE4-55D6-9A10-6C3E-71E8B938A4F4}"/>
                      </a:ext>
                    </a:extLst>
                  </p:cNvPr>
                  <p:cNvSpPr/>
                  <p:nvPr/>
                </p:nvSpPr>
                <p:spPr>
                  <a:xfrm>
                    <a:off x="11368282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  <p:cxnSp>
              <p:nvCxnSpPr>
                <p:cNvPr id="51" name="直线连接符 50">
                  <a:extLst>
                    <a:ext uri="{FF2B5EF4-FFF2-40B4-BE49-F238E27FC236}">
                      <a16:creationId xmlns:a16="http://schemas.microsoft.com/office/drawing/2014/main" id="{2A5F40FE-1ACB-2F81-A764-F3ECDD9B78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88693" y="3122107"/>
                  <a:ext cx="2746842" cy="0"/>
                </a:xfrm>
                <a:prstGeom prst="line">
                  <a:avLst/>
                </a:prstGeom>
                <a:ln w="25400">
                  <a:solidFill>
                    <a:srgbClr val="03369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线连接符 51">
                  <a:extLst>
                    <a:ext uri="{FF2B5EF4-FFF2-40B4-BE49-F238E27FC236}">
                      <a16:creationId xmlns:a16="http://schemas.microsoft.com/office/drawing/2014/main" id="{6F24034C-F895-AA99-F867-D6EFF54401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88693" y="2322400"/>
                  <a:ext cx="2746842" cy="0"/>
                </a:xfrm>
                <a:prstGeom prst="line">
                  <a:avLst/>
                </a:prstGeom>
                <a:ln w="25400">
                  <a:solidFill>
                    <a:srgbClr val="03369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6" name="图片 45">
                <a:extLst>
                  <a:ext uri="{FF2B5EF4-FFF2-40B4-BE49-F238E27FC236}">
                    <a16:creationId xmlns:a16="http://schemas.microsoft.com/office/drawing/2014/main" id="{A1A74680-3DD0-C691-C9FD-96FB9B25E3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22" t="17175" r="7258" b="10240"/>
              <a:stretch/>
            </p:blipFill>
            <p:spPr>
              <a:xfrm>
                <a:off x="6152769" y="2402097"/>
                <a:ext cx="2640360" cy="660962"/>
              </a:xfrm>
              <a:prstGeom prst="rect">
                <a:avLst/>
              </a:prstGeom>
            </p:spPr>
          </p:pic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25E9FD-9D35-9242-8161-FC4AF54418AC}"/>
                  </a:ext>
                </a:extLst>
              </p:cNvPr>
              <p:cNvSpPr txBox="1"/>
              <p:nvPr/>
            </p:nvSpPr>
            <p:spPr>
              <a:xfrm>
                <a:off x="6035212" y="1546497"/>
                <a:ext cx="295465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500" b="1" dirty="0">
                    <a:solidFill>
                      <a:srgbClr val="033693"/>
                    </a:solidFill>
                    <a:latin typeface="+mn-ea"/>
                  </a:rPr>
                  <a:t>深圳技术大学</a:t>
                </a: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14E8434-51BE-25A9-F269-78FDBBB39A6B}"/>
                  </a:ext>
                </a:extLst>
              </p:cNvPr>
              <p:cNvSpPr txBox="1"/>
              <p:nvPr/>
            </p:nvSpPr>
            <p:spPr>
              <a:xfrm>
                <a:off x="6075021" y="2061893"/>
                <a:ext cx="3082203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050" b="1" dirty="0">
                    <a:solidFill>
                      <a:srgbClr val="033693"/>
                    </a:solidFill>
                    <a:latin typeface="+mn-ea"/>
                  </a:rPr>
                  <a:t>SHENZHEN TECHNOLOGY UNIVERSITY</a:t>
                </a:r>
                <a:endParaRPr kumimoji="1" lang="zh-CN" altLang="en-US" sz="1050" b="1" dirty="0">
                  <a:solidFill>
                    <a:srgbClr val="033693"/>
                  </a:solidFill>
                  <a:latin typeface="+mn-ea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4F8A8410-5858-352C-3314-DE4D99AF8A0E}"/>
                </a:ext>
              </a:extLst>
            </p:cNvPr>
            <p:cNvGrpSpPr/>
            <p:nvPr/>
          </p:nvGrpSpPr>
          <p:grpSpPr>
            <a:xfrm>
              <a:off x="6167218" y="3744540"/>
              <a:ext cx="2316558" cy="1166821"/>
              <a:chOff x="9233377" y="3698850"/>
              <a:chExt cx="2316558" cy="1166821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74F0CB2-1447-3089-102A-C1BB71958CB0}"/>
                  </a:ext>
                </a:extLst>
              </p:cNvPr>
              <p:cNvSpPr/>
              <p:nvPr/>
            </p:nvSpPr>
            <p:spPr>
              <a:xfrm>
                <a:off x="9233377" y="3698851"/>
                <a:ext cx="171880" cy="350635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4" name="三角形 33">
                <a:extLst>
                  <a:ext uri="{FF2B5EF4-FFF2-40B4-BE49-F238E27FC236}">
                    <a16:creationId xmlns:a16="http://schemas.microsoft.com/office/drawing/2014/main" id="{91F0805C-631C-9B3C-FD01-4A04196CA793}"/>
                  </a:ext>
                </a:extLst>
              </p:cNvPr>
              <p:cNvSpPr/>
              <p:nvPr/>
            </p:nvSpPr>
            <p:spPr>
              <a:xfrm rot="10800000">
                <a:off x="9233377" y="4049486"/>
                <a:ext cx="171880" cy="139588"/>
              </a:xfrm>
              <a:prstGeom prst="triangle">
                <a:avLst>
                  <a:gd name="adj" fmla="val 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03DCE086-03C4-673C-1882-B3AA10D02A09}"/>
                  </a:ext>
                </a:extLst>
              </p:cNvPr>
              <p:cNvSpPr/>
              <p:nvPr/>
            </p:nvSpPr>
            <p:spPr>
              <a:xfrm>
                <a:off x="9664395" y="3698851"/>
                <a:ext cx="171880" cy="693615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" name="三角形 35">
                <a:extLst>
                  <a:ext uri="{FF2B5EF4-FFF2-40B4-BE49-F238E27FC236}">
                    <a16:creationId xmlns:a16="http://schemas.microsoft.com/office/drawing/2014/main" id="{51769838-1470-D233-566F-58BB06CE95F5}"/>
                  </a:ext>
                </a:extLst>
              </p:cNvPr>
              <p:cNvSpPr/>
              <p:nvPr/>
            </p:nvSpPr>
            <p:spPr>
              <a:xfrm rot="10800000">
                <a:off x="9664395" y="4392466"/>
                <a:ext cx="171880" cy="139588"/>
              </a:xfrm>
              <a:prstGeom prst="triangle">
                <a:avLst>
                  <a:gd name="adj" fmla="val 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33514F2D-51C6-D9BE-2D45-17FB4230C477}"/>
                  </a:ext>
                </a:extLst>
              </p:cNvPr>
              <p:cNvSpPr/>
              <p:nvPr/>
            </p:nvSpPr>
            <p:spPr>
              <a:xfrm>
                <a:off x="10095413" y="3698852"/>
                <a:ext cx="171880" cy="1027232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" name="三角形 37">
                <a:extLst>
                  <a:ext uri="{FF2B5EF4-FFF2-40B4-BE49-F238E27FC236}">
                    <a16:creationId xmlns:a16="http://schemas.microsoft.com/office/drawing/2014/main" id="{89B67B84-2482-7CD9-D878-6B306FE8D6D8}"/>
                  </a:ext>
                </a:extLst>
              </p:cNvPr>
              <p:cNvSpPr/>
              <p:nvPr/>
            </p:nvSpPr>
            <p:spPr>
              <a:xfrm rot="10800000">
                <a:off x="10095413" y="4726083"/>
                <a:ext cx="171880" cy="139588"/>
              </a:xfrm>
              <a:prstGeom prst="triangle">
                <a:avLst>
                  <a:gd name="adj" fmla="val 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7E815AA0-145A-791C-23E7-F5601038E42C}"/>
                  </a:ext>
                </a:extLst>
              </p:cNvPr>
              <p:cNvSpPr/>
              <p:nvPr/>
            </p:nvSpPr>
            <p:spPr>
              <a:xfrm>
                <a:off x="10526431" y="3698851"/>
                <a:ext cx="171880" cy="1027232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" name="三角形 39">
                <a:extLst>
                  <a:ext uri="{FF2B5EF4-FFF2-40B4-BE49-F238E27FC236}">
                    <a16:creationId xmlns:a16="http://schemas.microsoft.com/office/drawing/2014/main" id="{0EECEA81-A4E9-1ECC-07B8-D5DCDBA602D0}"/>
                  </a:ext>
                </a:extLst>
              </p:cNvPr>
              <p:cNvSpPr/>
              <p:nvPr/>
            </p:nvSpPr>
            <p:spPr>
              <a:xfrm rot="10800000">
                <a:off x="10526431" y="4721034"/>
                <a:ext cx="171880" cy="139588"/>
              </a:xfrm>
              <a:prstGeom prst="triangle">
                <a:avLst>
                  <a:gd name="adj" fmla="val 10000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30B295F4-144D-1C80-49E5-04FA02C3F06D}"/>
                  </a:ext>
                </a:extLst>
              </p:cNvPr>
              <p:cNvSpPr/>
              <p:nvPr/>
            </p:nvSpPr>
            <p:spPr>
              <a:xfrm>
                <a:off x="10954266" y="3698850"/>
                <a:ext cx="171880" cy="693615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2" name="三角形 41">
                <a:extLst>
                  <a:ext uri="{FF2B5EF4-FFF2-40B4-BE49-F238E27FC236}">
                    <a16:creationId xmlns:a16="http://schemas.microsoft.com/office/drawing/2014/main" id="{E4CB2833-83B8-F558-46CA-B636A7027FA1}"/>
                  </a:ext>
                </a:extLst>
              </p:cNvPr>
              <p:cNvSpPr/>
              <p:nvPr/>
            </p:nvSpPr>
            <p:spPr>
              <a:xfrm rot="10800000">
                <a:off x="10954266" y="4381871"/>
                <a:ext cx="171880" cy="139588"/>
              </a:xfrm>
              <a:prstGeom prst="triangle">
                <a:avLst>
                  <a:gd name="adj" fmla="val 10000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88B45F1A-4BE8-C523-EA6A-96BFB4DBB8BD}"/>
                  </a:ext>
                </a:extLst>
              </p:cNvPr>
              <p:cNvSpPr/>
              <p:nvPr/>
            </p:nvSpPr>
            <p:spPr>
              <a:xfrm>
                <a:off x="11378055" y="3698850"/>
                <a:ext cx="171880" cy="350635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" name="三角形 43">
                <a:extLst>
                  <a:ext uri="{FF2B5EF4-FFF2-40B4-BE49-F238E27FC236}">
                    <a16:creationId xmlns:a16="http://schemas.microsoft.com/office/drawing/2014/main" id="{7D32DC81-F51D-ABD5-B364-5177338ED3B0}"/>
                  </a:ext>
                </a:extLst>
              </p:cNvPr>
              <p:cNvSpPr/>
              <p:nvPr/>
            </p:nvSpPr>
            <p:spPr>
              <a:xfrm rot="10800000">
                <a:off x="11378055" y="4044436"/>
                <a:ext cx="171880" cy="139588"/>
              </a:xfrm>
              <a:prstGeom prst="triangle">
                <a:avLst>
                  <a:gd name="adj" fmla="val 10000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3736373-1528-6835-A13C-AD3B277D4F32}"/>
              </a:ext>
            </a:extLst>
          </p:cNvPr>
          <p:cNvSpPr txBox="1"/>
          <p:nvPr/>
        </p:nvSpPr>
        <p:spPr>
          <a:xfrm>
            <a:off x="989021" y="5499235"/>
            <a:ext cx="3326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rgbClr val="033693"/>
                </a:solidFill>
                <a:latin typeface="STXingkai" panose="02010800040101010101" pitchFamily="2" charset="-122"/>
                <a:ea typeface="STXingkai" panose="02010800040101010101" pitchFamily="2" charset="-122"/>
              </a:rPr>
              <a:t>唯实求精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DDDE107-5EB9-05A6-0EA7-61F49EF4D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1710158"/>
              </p:ext>
            </p:extLst>
          </p:nvPr>
        </p:nvGraphicFramePr>
        <p:xfrm>
          <a:off x="1039643" y="3428934"/>
          <a:ext cx="3794328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249">
                  <a:extLst>
                    <a:ext uri="{9D8B030D-6E8A-4147-A177-3AD203B41FA5}">
                      <a16:colId xmlns:a16="http://schemas.microsoft.com/office/drawing/2014/main" val="1400565640"/>
                    </a:ext>
                  </a:extLst>
                </a:gridCol>
                <a:gridCol w="2161079">
                  <a:extLst>
                    <a:ext uri="{9D8B030D-6E8A-4147-A177-3AD203B41FA5}">
                      <a16:colId xmlns:a16="http://schemas.microsoft.com/office/drawing/2014/main" val="23884169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bg1"/>
                          </a:solidFill>
                        </a:rPr>
                        <a:t>汇报人：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>
                          <a:solidFill>
                            <a:schemeClr val="bg1"/>
                          </a:solidFill>
                        </a:rPr>
                        <a:t>陈京晨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661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054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7196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5C2BF1E-4A3D-4317-8CD5-D25C5536001C}"/>
              </a:ext>
            </a:extLst>
          </p:cNvPr>
          <p:cNvSpPr/>
          <p:nvPr/>
        </p:nvSpPr>
        <p:spPr>
          <a:xfrm>
            <a:off x="0" y="6566848"/>
            <a:ext cx="12192000" cy="297976"/>
          </a:xfrm>
          <a:prstGeom prst="rect">
            <a:avLst/>
          </a:prstGeom>
          <a:solidFill>
            <a:srgbClr val="0336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zh-CN" altLang="de-DE" sz="800">
              <a:latin typeface="+mn-ea"/>
            </a:endParaRP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BE4F806E-4122-F9D6-08FA-0F6B7C62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6914" y="6529069"/>
            <a:ext cx="2743200" cy="365125"/>
          </a:xfrm>
        </p:spPr>
        <p:txBody>
          <a:bodyPr/>
          <a:lstStyle/>
          <a:p>
            <a:fld id="{44B1877F-E277-41EB-B983-C8E25D9C29E3}" type="slidenum">
              <a:rPr lang="en-US" altLang="zh-CN" smtClean="0"/>
              <a:t>2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41090F4-AFEF-D7AE-B550-3C943D2F1096}"/>
              </a:ext>
            </a:extLst>
          </p:cNvPr>
          <p:cNvGrpSpPr/>
          <p:nvPr/>
        </p:nvGrpSpPr>
        <p:grpSpPr>
          <a:xfrm>
            <a:off x="0" y="0"/>
            <a:ext cx="12192000" cy="742122"/>
            <a:chOff x="0" y="0"/>
            <a:chExt cx="12192000" cy="742122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D8CA583-D0A5-E9CE-038B-E82C669519B1}"/>
                </a:ext>
              </a:extLst>
            </p:cNvPr>
            <p:cNvSpPr/>
            <p:nvPr/>
          </p:nvSpPr>
          <p:spPr>
            <a:xfrm>
              <a:off x="0" y="0"/>
              <a:ext cx="12192000" cy="742122"/>
            </a:xfrm>
            <a:prstGeom prst="rect">
              <a:avLst/>
            </a:prstGeom>
            <a:solidFill>
              <a:srgbClr val="033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 dirty="0">
                  <a:latin typeface="+mn-ea"/>
                </a:rPr>
                <a:t>	现有工作 </a:t>
              </a:r>
              <a:r>
                <a:rPr lang="en-US" altLang="zh-CN" sz="2800" b="1" dirty="0">
                  <a:latin typeface="+mn-ea"/>
                </a:rPr>
                <a:t>--</a:t>
              </a:r>
              <a:r>
                <a:rPr lang="zh-CN" altLang="en-US" sz="2800" b="1" dirty="0">
                  <a:latin typeface="+mn-ea"/>
                </a:rPr>
                <a:t>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 </a:t>
              </a:r>
              <a:r>
                <a:rPr lang="de-DE" altLang="zh-CN" sz="28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ViT</a:t>
              </a:r>
              <a:r>
                <a:rPr lang="de-DE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改进的医学影像分割方法研究</a:t>
              </a:r>
              <a:endParaRPr lang="zh-CN" altLang="en-US" sz="2800" b="1" dirty="0">
                <a:latin typeface="+mn-ea"/>
              </a:endParaRPr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28C7A23D-838D-D2A8-8615-7ADD415C63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5" t="56924" r="3732"/>
            <a:stretch/>
          </p:blipFill>
          <p:spPr>
            <a:xfrm>
              <a:off x="11113160" y="62962"/>
              <a:ext cx="481280" cy="610129"/>
            </a:xfrm>
            <a:prstGeom prst="rect">
              <a:avLst/>
            </a:prstGeom>
          </p:spPr>
        </p:pic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FE242C68-610B-0647-135B-36327F5BA64F}"/>
              </a:ext>
            </a:extLst>
          </p:cNvPr>
          <p:cNvSpPr txBox="1"/>
          <p:nvPr/>
        </p:nvSpPr>
        <p:spPr>
          <a:xfrm>
            <a:off x="3754483" y="1451796"/>
            <a:ext cx="4479235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i="0" u="none" strike="noStrike">
                <a:effectLst/>
                <a:latin typeface="+mn-ea"/>
              </a:rPr>
              <a:t>目前，我已完成以下前期工作：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51F324D-1F39-C21A-4295-51745DE8CAE9}"/>
              </a:ext>
            </a:extLst>
          </p:cNvPr>
          <p:cNvSpPr/>
          <p:nvPr/>
        </p:nvSpPr>
        <p:spPr>
          <a:xfrm>
            <a:off x="3470435" y="1516766"/>
            <a:ext cx="5914841" cy="997522"/>
          </a:xfrm>
          <a:prstGeom prst="rect">
            <a:avLst/>
          </a:prstGeom>
          <a:solidFill>
            <a:srgbClr val="BFCA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+mn-ea"/>
              </a:rPr>
              <a:t>复现了</a:t>
            </a:r>
            <a:r>
              <a:rPr lang="en-US" altLang="zh-CN">
                <a:solidFill>
                  <a:schemeClr val="tx1"/>
                </a:solidFill>
                <a:latin typeface="+mn-ea"/>
              </a:rPr>
              <a:t>HiFormer</a:t>
            </a:r>
            <a:r>
              <a:rPr lang="zh-CN" altLang="en-US">
                <a:solidFill>
                  <a:schemeClr val="tx1"/>
                </a:solidFill>
                <a:latin typeface="+mn-ea"/>
              </a:rPr>
              <a:t>模型并基于该框架进行初步改进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43E213C-00E6-6AEC-F387-1EB84EC43126}"/>
              </a:ext>
            </a:extLst>
          </p:cNvPr>
          <p:cNvSpPr/>
          <p:nvPr/>
        </p:nvSpPr>
        <p:spPr>
          <a:xfrm>
            <a:off x="3472588" y="4839340"/>
            <a:ext cx="5911701" cy="1017834"/>
          </a:xfrm>
          <a:prstGeom prst="rect">
            <a:avLst/>
          </a:prstGeom>
          <a:solidFill>
            <a:srgbClr val="5F9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i="0" u="none" strike="noStrike">
                <a:solidFill>
                  <a:schemeClr val="bg1"/>
                </a:solidFill>
                <a:effectLst/>
                <a:latin typeface="+mn-ea"/>
              </a:rPr>
              <a:t>具备基本的代码、调参、评估能力</a:t>
            </a:r>
            <a:endParaRPr lang="zh-CN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3511BF2-0689-1203-1C43-F574DC687718}"/>
              </a:ext>
            </a:extLst>
          </p:cNvPr>
          <p:cNvSpPr/>
          <p:nvPr/>
        </p:nvSpPr>
        <p:spPr>
          <a:xfrm>
            <a:off x="3470435" y="2596420"/>
            <a:ext cx="5914841" cy="1034031"/>
          </a:xfrm>
          <a:prstGeom prst="rect">
            <a:avLst/>
          </a:prstGeom>
          <a:solidFill>
            <a:srgbClr val="97DB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i="0" u="none" strike="noStrike" dirty="0">
                <a:solidFill>
                  <a:schemeClr val="tx1"/>
                </a:solidFill>
                <a:effectLst/>
                <a:latin typeface="+mn-ea"/>
              </a:rPr>
              <a:t>初步集成</a:t>
            </a:r>
            <a:r>
              <a:rPr lang="de-DE" altLang="zh-CN" sz="1800" i="0" u="none" strike="noStrike" dirty="0">
                <a:solidFill>
                  <a:schemeClr val="tx1"/>
                </a:solidFill>
                <a:effectLst/>
                <a:latin typeface="+mn-ea"/>
              </a:rPr>
              <a:t>PPA</a:t>
            </a:r>
            <a:r>
              <a:rPr lang="zh-CN" altLang="en-US" sz="1800" i="0" u="none" strike="noStrike" dirty="0">
                <a:solidFill>
                  <a:schemeClr val="tx1"/>
                </a:solidFill>
                <a:effectLst/>
                <a:latin typeface="+mn-ea"/>
              </a:rPr>
              <a:t>、</a:t>
            </a:r>
            <a:r>
              <a:rPr lang="en-US" altLang="zh-CN" sz="1800" i="0" u="none" strike="noStrike" dirty="0">
                <a:solidFill>
                  <a:schemeClr val="tx1"/>
                </a:solidFill>
                <a:effectLst/>
                <a:latin typeface="+mn-ea"/>
              </a:rPr>
              <a:t>Triplet Attention</a:t>
            </a:r>
            <a:r>
              <a:rPr lang="zh-CN" altLang="en-US" sz="1800" i="0" u="none" strike="noStrike" dirty="0">
                <a:solidFill>
                  <a:schemeClr val="tx1"/>
                </a:solidFill>
                <a:effectLst/>
                <a:latin typeface="+mn-ea"/>
              </a:rPr>
              <a:t>模块，</a:t>
            </a:r>
            <a:endParaRPr lang="en-US" altLang="zh-CN" sz="1800" i="0" u="none" strike="noStrike" dirty="0">
              <a:solidFill>
                <a:schemeClr val="tx1"/>
              </a:solidFill>
              <a:effectLst/>
              <a:latin typeface="+mn-ea"/>
            </a:endParaRPr>
          </a:p>
          <a:p>
            <a:pPr algn="ctr"/>
            <a:r>
              <a:rPr lang="zh-CN" altLang="en-US" sz="1800" i="0" u="none" strike="noStrike" dirty="0">
                <a:solidFill>
                  <a:schemeClr val="tx1"/>
                </a:solidFill>
                <a:effectLst/>
                <a:latin typeface="+mn-ea"/>
              </a:rPr>
              <a:t>并在</a:t>
            </a:r>
            <a:r>
              <a:rPr lang="de-DE" altLang="zh-CN" sz="1800" i="0" u="none" strike="noStrike" dirty="0">
                <a:solidFill>
                  <a:schemeClr val="tx1"/>
                </a:solidFill>
                <a:effectLst/>
                <a:latin typeface="+mn-ea"/>
              </a:rPr>
              <a:t>Synapse</a:t>
            </a:r>
            <a:r>
              <a:rPr lang="zh-CN" altLang="en-US" sz="1800" i="0" u="none" strike="noStrike" dirty="0">
                <a:solidFill>
                  <a:schemeClr val="tx1"/>
                </a:solidFill>
                <a:effectLst/>
                <a:latin typeface="+mn-ea"/>
              </a:rPr>
              <a:t>数据集上进行了验证，结果良好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32A683F-E023-54CB-0419-83461C1C8F32}"/>
              </a:ext>
            </a:extLst>
          </p:cNvPr>
          <p:cNvSpPr/>
          <p:nvPr/>
        </p:nvSpPr>
        <p:spPr>
          <a:xfrm>
            <a:off x="3473577" y="3712583"/>
            <a:ext cx="5911700" cy="1017835"/>
          </a:xfrm>
          <a:prstGeom prst="rect">
            <a:avLst/>
          </a:prstGeom>
          <a:solidFill>
            <a:srgbClr val="76B2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800" i="0" u="none" strike="noStrike">
                <a:solidFill>
                  <a:schemeClr val="bg1"/>
                </a:solidFill>
                <a:effectLst/>
                <a:latin typeface="+mn-ea"/>
              </a:rPr>
              <a:t>对相关文献有整体的了解</a:t>
            </a:r>
            <a:endParaRPr lang="zh-CN" altLang="en-US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833A6A9-8A46-8358-4CD3-A7EE6D376B10}"/>
              </a:ext>
            </a:extLst>
          </p:cNvPr>
          <p:cNvSpPr/>
          <p:nvPr/>
        </p:nvSpPr>
        <p:spPr>
          <a:xfrm>
            <a:off x="9384288" y="1532565"/>
            <a:ext cx="708061" cy="990005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n-ea"/>
              </a:rPr>
              <a:t>01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0" name="三角形 49">
            <a:extLst>
              <a:ext uri="{FF2B5EF4-FFF2-40B4-BE49-F238E27FC236}">
                <a16:creationId xmlns:a16="http://schemas.microsoft.com/office/drawing/2014/main" id="{154924B8-C34E-03C1-4A9F-7BE36D3695EB}"/>
              </a:ext>
            </a:extLst>
          </p:cNvPr>
          <p:cNvSpPr/>
          <p:nvPr/>
        </p:nvSpPr>
        <p:spPr>
          <a:xfrm rot="5400000">
            <a:off x="9763144" y="1861776"/>
            <a:ext cx="990006" cy="331594"/>
          </a:xfrm>
          <a:prstGeom prst="triangle">
            <a:avLst>
              <a:gd name="adj" fmla="val 51666"/>
            </a:avLst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4D9D911-95BC-ECD7-ADF3-EA8EB475D9FE}"/>
              </a:ext>
            </a:extLst>
          </p:cNvPr>
          <p:cNvSpPr/>
          <p:nvPr/>
        </p:nvSpPr>
        <p:spPr>
          <a:xfrm>
            <a:off x="9383075" y="2599881"/>
            <a:ext cx="708061" cy="1017835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n-ea"/>
              </a:rPr>
              <a:t>02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4" name="三角形 53">
            <a:extLst>
              <a:ext uri="{FF2B5EF4-FFF2-40B4-BE49-F238E27FC236}">
                <a16:creationId xmlns:a16="http://schemas.microsoft.com/office/drawing/2014/main" id="{150B5467-C627-9615-03AE-BE68FC73C30E}"/>
              </a:ext>
            </a:extLst>
          </p:cNvPr>
          <p:cNvSpPr/>
          <p:nvPr/>
        </p:nvSpPr>
        <p:spPr>
          <a:xfrm rot="5400000">
            <a:off x="9750423" y="2941510"/>
            <a:ext cx="1015448" cy="331594"/>
          </a:xfrm>
          <a:prstGeom prst="triangle">
            <a:avLst>
              <a:gd name="adj" fmla="val 51666"/>
            </a:avLst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E799C72-304A-E871-5FB2-6AF70A0813B0}"/>
              </a:ext>
            </a:extLst>
          </p:cNvPr>
          <p:cNvSpPr/>
          <p:nvPr/>
        </p:nvSpPr>
        <p:spPr>
          <a:xfrm>
            <a:off x="9377348" y="3726434"/>
            <a:ext cx="708061" cy="986776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n-ea"/>
              </a:rPr>
              <a:t>03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三角形 57">
            <a:extLst>
              <a:ext uri="{FF2B5EF4-FFF2-40B4-BE49-F238E27FC236}">
                <a16:creationId xmlns:a16="http://schemas.microsoft.com/office/drawing/2014/main" id="{5173172B-C9E0-FAE1-5DCA-8419EDFB9427}"/>
              </a:ext>
            </a:extLst>
          </p:cNvPr>
          <p:cNvSpPr/>
          <p:nvPr/>
        </p:nvSpPr>
        <p:spPr>
          <a:xfrm rot="5400000">
            <a:off x="9756654" y="4058273"/>
            <a:ext cx="989106" cy="331594"/>
          </a:xfrm>
          <a:prstGeom prst="triangle">
            <a:avLst>
              <a:gd name="adj" fmla="val 51666"/>
            </a:avLst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2052A2F-0A5E-9236-15C9-8AC103BC6C3E}"/>
              </a:ext>
            </a:extLst>
          </p:cNvPr>
          <p:cNvSpPr/>
          <p:nvPr/>
        </p:nvSpPr>
        <p:spPr>
          <a:xfrm>
            <a:off x="9373489" y="4853190"/>
            <a:ext cx="708061" cy="993801"/>
          </a:xfrm>
          <a:prstGeom prst="rect">
            <a:avLst/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+mn-ea"/>
              </a:rPr>
              <a:t>04</a:t>
            </a:r>
            <a:endParaRPr lang="zh-CN" altLang="en-US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三角形 61">
            <a:extLst>
              <a:ext uri="{FF2B5EF4-FFF2-40B4-BE49-F238E27FC236}">
                <a16:creationId xmlns:a16="http://schemas.microsoft.com/office/drawing/2014/main" id="{4B544C64-1626-9DFA-B199-24F35E989728}"/>
              </a:ext>
            </a:extLst>
          </p:cNvPr>
          <p:cNvSpPr/>
          <p:nvPr/>
        </p:nvSpPr>
        <p:spPr>
          <a:xfrm rot="5400000">
            <a:off x="9749275" y="5188549"/>
            <a:ext cx="996146" cy="331594"/>
          </a:xfrm>
          <a:prstGeom prst="triangle">
            <a:avLst>
              <a:gd name="adj" fmla="val 51666"/>
            </a:avLst>
          </a:prstGeom>
          <a:solidFill>
            <a:srgbClr val="E7E7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38AB55BF-0936-BBAF-500B-33C36F30A3A4}"/>
              </a:ext>
            </a:extLst>
          </p:cNvPr>
          <p:cNvSpPr/>
          <p:nvPr/>
        </p:nvSpPr>
        <p:spPr>
          <a:xfrm>
            <a:off x="955495" y="2685089"/>
            <a:ext cx="2275323" cy="2275323"/>
          </a:xfrm>
          <a:prstGeom prst="ellipse">
            <a:avLst/>
          </a:prstGeom>
          <a:solidFill>
            <a:srgbClr val="F2F2F2"/>
          </a:solidFill>
          <a:ln>
            <a:noFill/>
          </a:ln>
          <a:effectLst>
            <a:outerShdw blurRad="303933" dist="38100" dir="2700000" sx="102253" sy="102253" algn="tl" rotWithShape="0">
              <a:prstClr val="black">
                <a:alpha val="27213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已经完成的</a:t>
            </a:r>
          </a:p>
          <a:p>
            <a:pPr algn="ctr"/>
            <a:r>
              <a:rPr lang="zh-CN" altLang="en-US" dirty="0">
                <a:solidFill>
                  <a:schemeClr val="tx1"/>
                </a:solidFill>
                <a:latin typeface="+mn-ea"/>
              </a:rPr>
              <a:t>准备工作</a:t>
            </a:r>
          </a:p>
        </p:txBody>
      </p:sp>
    </p:spTree>
    <p:extLst>
      <p:ext uri="{BB962C8B-B14F-4D97-AF65-F5344CB8AC3E}">
        <p14:creationId xmlns:p14="http://schemas.microsoft.com/office/powerpoint/2010/main" val="3460188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DFD51DA-2D79-4EBF-DE55-CDB19B53F2C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5" r="5037"/>
          <a:stretch/>
        </p:blipFill>
        <p:spPr>
          <a:xfrm>
            <a:off x="0" y="3561558"/>
            <a:ext cx="7124008" cy="2476500"/>
          </a:xfrm>
          <a:prstGeom prst="rect">
            <a:avLst/>
          </a:prstGeom>
          <a:noFill/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5C2BF1E-4A3D-4317-8CD5-D25C5536001C}"/>
              </a:ext>
            </a:extLst>
          </p:cNvPr>
          <p:cNvSpPr/>
          <p:nvPr/>
        </p:nvSpPr>
        <p:spPr>
          <a:xfrm>
            <a:off x="0" y="6566848"/>
            <a:ext cx="12192000" cy="297976"/>
          </a:xfrm>
          <a:prstGeom prst="rect">
            <a:avLst/>
          </a:prstGeom>
          <a:solidFill>
            <a:srgbClr val="0336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altLang="zh-CN" dirty="0">
              <a:solidFill>
                <a:schemeClr val="bg1"/>
              </a:solidFill>
              <a:effectLst/>
            </a:endParaRP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BE4F806E-4122-F9D6-08FA-0F6B7C62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BE7044-333A-5B0A-D955-440FDC5D468E}"/>
              </a:ext>
            </a:extLst>
          </p:cNvPr>
          <p:cNvSpPr txBox="1"/>
          <p:nvPr/>
        </p:nvSpPr>
        <p:spPr>
          <a:xfrm>
            <a:off x="783493" y="846451"/>
            <a:ext cx="1258899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33694"/>
                </a:solidFill>
              </a:rPr>
              <a:t>定量结果</a:t>
            </a:r>
            <a:endParaRPr lang="zh-CN" altLang="en-US" dirty="0">
              <a:solidFill>
                <a:srgbClr val="033694"/>
              </a:solidFill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A9BB5B3F-04DC-FC14-E0FF-35CC222E51CD}"/>
              </a:ext>
            </a:extLst>
          </p:cNvPr>
          <p:cNvGraphicFramePr>
            <a:graphicFrameLocks noGrp="1"/>
          </p:cNvGraphicFramePr>
          <p:nvPr/>
        </p:nvGraphicFramePr>
        <p:xfrm>
          <a:off x="2042392" y="1541660"/>
          <a:ext cx="9552047" cy="15830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64669">
                  <a:extLst>
                    <a:ext uri="{9D8B030D-6E8A-4147-A177-3AD203B41FA5}">
                      <a16:colId xmlns:a16="http://schemas.microsoft.com/office/drawing/2014/main" val="2756235350"/>
                    </a:ext>
                  </a:extLst>
                </a:gridCol>
                <a:gridCol w="653011">
                  <a:extLst>
                    <a:ext uri="{9D8B030D-6E8A-4147-A177-3AD203B41FA5}">
                      <a16:colId xmlns:a16="http://schemas.microsoft.com/office/drawing/2014/main" val="1840210075"/>
                    </a:ext>
                  </a:extLst>
                </a:gridCol>
                <a:gridCol w="614818">
                  <a:extLst>
                    <a:ext uri="{9D8B030D-6E8A-4147-A177-3AD203B41FA5}">
                      <a16:colId xmlns:a16="http://schemas.microsoft.com/office/drawing/2014/main" val="92290272"/>
                    </a:ext>
                  </a:extLst>
                </a:gridCol>
                <a:gridCol w="652080">
                  <a:extLst>
                    <a:ext uri="{9D8B030D-6E8A-4147-A177-3AD203B41FA5}">
                      <a16:colId xmlns:a16="http://schemas.microsoft.com/office/drawing/2014/main" val="420036904"/>
                    </a:ext>
                  </a:extLst>
                </a:gridCol>
                <a:gridCol w="1049851">
                  <a:extLst>
                    <a:ext uri="{9D8B030D-6E8A-4147-A177-3AD203B41FA5}">
                      <a16:colId xmlns:a16="http://schemas.microsoft.com/office/drawing/2014/main" val="3210234538"/>
                    </a:ext>
                  </a:extLst>
                </a:gridCol>
                <a:gridCol w="942722">
                  <a:extLst>
                    <a:ext uri="{9D8B030D-6E8A-4147-A177-3AD203B41FA5}">
                      <a16:colId xmlns:a16="http://schemas.microsoft.com/office/drawing/2014/main" val="2775406956"/>
                    </a:ext>
                  </a:extLst>
                </a:gridCol>
                <a:gridCol w="950174">
                  <a:extLst>
                    <a:ext uri="{9D8B030D-6E8A-4147-A177-3AD203B41FA5}">
                      <a16:colId xmlns:a16="http://schemas.microsoft.com/office/drawing/2014/main" val="87194533"/>
                    </a:ext>
                  </a:extLst>
                </a:gridCol>
                <a:gridCol w="627860">
                  <a:extLst>
                    <a:ext uri="{9D8B030D-6E8A-4147-A177-3AD203B41FA5}">
                      <a16:colId xmlns:a16="http://schemas.microsoft.com/office/drawing/2014/main" val="3634037864"/>
                    </a:ext>
                  </a:extLst>
                </a:gridCol>
                <a:gridCol w="859815">
                  <a:extLst>
                    <a:ext uri="{9D8B030D-6E8A-4147-A177-3AD203B41FA5}">
                      <a16:colId xmlns:a16="http://schemas.microsoft.com/office/drawing/2014/main" val="3597214084"/>
                    </a:ext>
                  </a:extLst>
                </a:gridCol>
                <a:gridCol w="702384">
                  <a:extLst>
                    <a:ext uri="{9D8B030D-6E8A-4147-A177-3AD203B41FA5}">
                      <a16:colId xmlns:a16="http://schemas.microsoft.com/office/drawing/2014/main" val="3024424523"/>
                    </a:ext>
                  </a:extLst>
                </a:gridCol>
                <a:gridCol w="834663">
                  <a:extLst>
                    <a:ext uri="{9D8B030D-6E8A-4147-A177-3AD203B41FA5}">
                      <a16:colId xmlns:a16="http://schemas.microsoft.com/office/drawing/2014/main" val="4174243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Methods 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DSC↑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HD ↓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Aorta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Gallbladder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Kidney(L)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Kidney(R)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Liver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Pancreas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Spleen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Stomach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257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HiFormer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n-US" sz="1100" baseline="30000" dirty="0">
                          <a:solidFill>
                            <a:schemeClr val="tx1"/>
                          </a:solidFill>
                          <a:effectLst/>
                        </a:rPr>
                        <a:t>[16]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78.52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effectLst/>
                        </a:rPr>
                        <a:t>18.56</a:t>
                      </a:r>
                      <a:endParaRPr lang="zh-CN" sz="20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85.90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57.99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effectLst/>
                        </a:rPr>
                        <a:t>85.47</a:t>
                      </a:r>
                      <a:endParaRPr lang="zh-CN" sz="20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79.37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effectLst/>
                        </a:rPr>
                        <a:t>94.28</a:t>
                      </a:r>
                      <a:endParaRPr lang="zh-CN" sz="20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58.33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effectLst/>
                        </a:rPr>
                        <a:t>90.69</a:t>
                      </a:r>
                      <a:endParaRPr lang="zh-CN" sz="20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76.17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1297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HF+PAA 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79.41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20.07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84.60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64.25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84.73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79.05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93.69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60.44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89.64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effectLst/>
                        </a:rPr>
                        <a:t>78.88</a:t>
                      </a:r>
                      <a:endParaRPr lang="zh-CN" sz="20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26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HF+TA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effectLst/>
                        </a:rPr>
                        <a:t>79.64</a:t>
                      </a:r>
                      <a:endParaRPr lang="zh-CN" sz="2000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14.74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84.44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64.83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85.30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79.29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94.19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56.51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90.91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81.62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229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HF+TA+PPA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79.73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20.25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85.69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65.89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85.52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</a:rPr>
                        <a:t>80.65</a:t>
                      </a:r>
                      <a:endParaRPr lang="zh-CN" sz="20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94.03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58.48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89.69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77.86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057537"/>
                  </a:ext>
                </a:extLst>
              </a:tr>
            </a:tbl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2910D84A-1252-00AD-8646-A48DB57C449B}"/>
              </a:ext>
            </a:extLst>
          </p:cNvPr>
          <p:cNvSpPr txBox="1"/>
          <p:nvPr/>
        </p:nvSpPr>
        <p:spPr>
          <a:xfrm>
            <a:off x="6390454" y="3143605"/>
            <a:ext cx="1305168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33694"/>
                </a:solidFill>
              </a:rPr>
              <a:t>效率表现</a:t>
            </a:r>
            <a:endParaRPr lang="en-US" altLang="zh-CN" b="1" dirty="0">
              <a:solidFill>
                <a:srgbClr val="033694"/>
              </a:solidFill>
            </a:endParaRPr>
          </a:p>
        </p:txBody>
      </p:sp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A63F3A46-B7BC-8C59-52B5-220090764109}"/>
              </a:ext>
            </a:extLst>
          </p:cNvPr>
          <p:cNvGraphicFramePr>
            <a:graphicFrameLocks noGrp="1"/>
          </p:cNvGraphicFramePr>
          <p:nvPr/>
        </p:nvGraphicFramePr>
        <p:xfrm>
          <a:off x="7526216" y="3660381"/>
          <a:ext cx="3967993" cy="2849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84713">
                  <a:extLst>
                    <a:ext uri="{9D8B030D-6E8A-4147-A177-3AD203B41FA5}">
                      <a16:colId xmlns:a16="http://schemas.microsoft.com/office/drawing/2014/main" val="3423764550"/>
                    </a:ext>
                  </a:extLst>
                </a:gridCol>
                <a:gridCol w="1117695">
                  <a:extLst>
                    <a:ext uri="{9D8B030D-6E8A-4147-A177-3AD203B41FA5}">
                      <a16:colId xmlns:a16="http://schemas.microsoft.com/office/drawing/2014/main" val="4164608242"/>
                    </a:ext>
                  </a:extLst>
                </a:gridCol>
                <a:gridCol w="744546">
                  <a:extLst>
                    <a:ext uri="{9D8B030D-6E8A-4147-A177-3AD203B41FA5}">
                      <a16:colId xmlns:a16="http://schemas.microsoft.com/office/drawing/2014/main" val="1634590810"/>
                    </a:ext>
                  </a:extLst>
                </a:gridCol>
                <a:gridCol w="621039">
                  <a:extLst>
                    <a:ext uri="{9D8B030D-6E8A-4147-A177-3AD203B41FA5}">
                      <a16:colId xmlns:a16="http://schemas.microsoft.com/office/drawing/2014/main" val="17544703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Methods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# Params(M)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DSC ↑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HD ↓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958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TransUnet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105.28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77.48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31.69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840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Swin-Unet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27.17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79.13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21.55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9540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LeVit-Unet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52.17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78.53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16.84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006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DeepLabv3+ (CNN)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59.50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77.63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39.95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05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</a:rPr>
                        <a:t>HiFormer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25.51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78.52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18.56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796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HF+PAA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25.51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79.41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20.07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954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HF+TA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25.51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79.64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14.74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0514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HF+TA+PPA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</a:rPr>
                        <a:t>25.51</a:t>
                      </a:r>
                      <a:endParaRPr lang="zh-CN" sz="20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79.73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Bef>
                          <a:spcPts val="250"/>
                        </a:spcBef>
                        <a:spcAft>
                          <a:spcPts val="250"/>
                        </a:spcAft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</a:rPr>
                        <a:t>20.25</a:t>
                      </a:r>
                      <a:endParaRPr lang="zh-CN" sz="20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95250" marR="95250" marT="47625" marB="47625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495499"/>
                  </a:ext>
                </a:extLst>
              </a:tr>
            </a:tbl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AC120BBD-9BD0-A096-5D95-75E96AEB7066}"/>
              </a:ext>
            </a:extLst>
          </p:cNvPr>
          <p:cNvSpPr txBox="1"/>
          <p:nvPr/>
        </p:nvSpPr>
        <p:spPr>
          <a:xfrm>
            <a:off x="783493" y="3143605"/>
            <a:ext cx="1939324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33694"/>
                </a:solidFill>
              </a:rPr>
              <a:t>可视化结果展示</a:t>
            </a:r>
            <a:endParaRPr lang="en-US" altLang="zh-CN" b="1" dirty="0">
              <a:solidFill>
                <a:srgbClr val="033694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1B6AEB82-56FD-7AA3-1DBA-B6BA75B08377}"/>
              </a:ext>
            </a:extLst>
          </p:cNvPr>
          <p:cNvSpPr txBox="1"/>
          <p:nvPr/>
        </p:nvSpPr>
        <p:spPr>
          <a:xfrm>
            <a:off x="511623" y="5994004"/>
            <a:ext cx="587017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2667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i="0">
                <a:effectLst/>
                <a:latin typeface="+mn-ea"/>
                <a:cs typeface="宋体" panose="02010600030101010101" pitchFamily="2" charset="-122"/>
              </a:defRPr>
            </a:lvl1pPr>
          </a:lstStyle>
          <a:p>
            <a:r>
              <a:rPr lang="zh-CN" altLang="zh-CN" dirty="0"/>
              <a:t>图</a:t>
            </a:r>
            <a:r>
              <a:rPr lang="en-US" altLang="zh-CN" dirty="0"/>
              <a:t>5.1</a:t>
            </a:r>
            <a:r>
              <a:rPr lang="zh-CN" altLang="en-US" dirty="0"/>
              <a:t> </a:t>
            </a:r>
            <a:r>
              <a:rPr lang="zh-CN" altLang="zh-CN" dirty="0"/>
              <a:t>在</a:t>
            </a:r>
            <a:r>
              <a:rPr lang="en-US" altLang="zh-CN" dirty="0"/>
              <a:t>Synapse</a:t>
            </a:r>
            <a:r>
              <a:rPr lang="zh-CN" altLang="zh-CN" dirty="0"/>
              <a:t>数据集上使用所提方法的分割结果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8D5AE17E-D5CA-3FB4-680C-E52FC99CDD1D}"/>
              </a:ext>
            </a:extLst>
          </p:cNvPr>
          <p:cNvSpPr txBox="1"/>
          <p:nvPr/>
        </p:nvSpPr>
        <p:spPr>
          <a:xfrm>
            <a:off x="8020435" y="3134997"/>
            <a:ext cx="2979554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indent="2667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 i="0">
                <a:effectLst/>
                <a:latin typeface="+mn-ea"/>
                <a:cs typeface="宋体" panose="02010600030101010101" pitchFamily="2" charset="-122"/>
              </a:defRPr>
            </a:lvl1pPr>
          </a:lstStyle>
          <a:p>
            <a:r>
              <a:rPr lang="zh-CN" altLang="zh-CN" dirty="0"/>
              <a:t>表</a:t>
            </a:r>
            <a:r>
              <a:rPr lang="en-US" altLang="zh-CN" dirty="0"/>
              <a:t>5.2 </a:t>
            </a:r>
            <a:r>
              <a:rPr lang="zh-CN" altLang="zh-CN" dirty="0"/>
              <a:t>模型参数的比较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D87C7BF-172A-3C80-3884-D525CFD30094}"/>
              </a:ext>
            </a:extLst>
          </p:cNvPr>
          <p:cNvSpPr txBox="1"/>
          <p:nvPr/>
        </p:nvSpPr>
        <p:spPr>
          <a:xfrm>
            <a:off x="1807947" y="1036427"/>
            <a:ext cx="9920287" cy="455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zh-CN" altLang="zh-CN" sz="1800" i="0" dirty="0">
                <a:effectLst/>
                <a:latin typeface="+mn-ea"/>
                <a:cs typeface="宋体" panose="02010600030101010101" pitchFamily="2" charset="-122"/>
              </a:rPr>
              <a:t>表</a:t>
            </a:r>
            <a:r>
              <a:rPr lang="en-US" altLang="zh-CN" sz="1800" i="0" dirty="0">
                <a:effectLst/>
                <a:latin typeface="+mn-ea"/>
                <a:cs typeface="宋体" panose="02010600030101010101" pitchFamily="2" charset="-122"/>
              </a:rPr>
              <a:t>5.1 </a:t>
            </a:r>
            <a:r>
              <a:rPr lang="zh-CN" altLang="zh-CN" sz="1800" i="0" dirty="0">
                <a:effectLst/>
                <a:latin typeface="+mn-ea"/>
                <a:cs typeface="宋体" panose="02010600030101010101" pitchFamily="2" charset="-122"/>
              </a:rPr>
              <a:t>所提方法在</a:t>
            </a:r>
            <a:r>
              <a:rPr lang="en-US" altLang="zh-CN" sz="1800" i="0" dirty="0">
                <a:effectLst/>
                <a:latin typeface="+mn-ea"/>
                <a:cs typeface="宋体" panose="02010600030101010101" pitchFamily="2" charset="-122"/>
              </a:rPr>
              <a:t>Synapse</a:t>
            </a:r>
            <a:r>
              <a:rPr lang="zh-CN" altLang="zh-CN" sz="1800" i="0" dirty="0">
                <a:effectLst/>
                <a:latin typeface="+mn-ea"/>
                <a:cs typeface="宋体" panose="02010600030101010101" pitchFamily="2" charset="-122"/>
              </a:rPr>
              <a:t>数据集上的比较结果，红色表示最佳结果，蓝色表示第二最佳结果</a:t>
            </a:r>
            <a:endParaRPr lang="zh-CN" altLang="zh-CN" sz="2400" dirty="0">
              <a:effectLst/>
              <a:latin typeface="+mn-ea"/>
              <a:cs typeface="宋体" panose="02010600030101010101" pitchFamily="2" charset="-122"/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05F7359C-D632-8724-95E4-9670F0224F8A}"/>
              </a:ext>
            </a:extLst>
          </p:cNvPr>
          <p:cNvSpPr/>
          <p:nvPr/>
        </p:nvSpPr>
        <p:spPr>
          <a:xfrm>
            <a:off x="783493" y="943046"/>
            <a:ext cx="1076713" cy="353931"/>
          </a:xfrm>
          <a:prstGeom prst="roundRect">
            <a:avLst/>
          </a:prstGeom>
          <a:noFill/>
          <a:ln w="38100">
            <a:solidFill>
              <a:srgbClr val="0336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FD1AA468-A72A-DD33-A5CE-5FCF8E67FFD7}"/>
              </a:ext>
            </a:extLst>
          </p:cNvPr>
          <p:cNvSpPr/>
          <p:nvPr/>
        </p:nvSpPr>
        <p:spPr>
          <a:xfrm>
            <a:off x="809105" y="3246301"/>
            <a:ext cx="1773321" cy="353931"/>
          </a:xfrm>
          <a:prstGeom prst="roundRect">
            <a:avLst/>
          </a:prstGeom>
          <a:noFill/>
          <a:ln w="38100">
            <a:solidFill>
              <a:srgbClr val="0336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19211850-8F02-68BC-9411-1F8A1A6069D9}"/>
              </a:ext>
            </a:extLst>
          </p:cNvPr>
          <p:cNvSpPr/>
          <p:nvPr/>
        </p:nvSpPr>
        <p:spPr>
          <a:xfrm>
            <a:off x="6381798" y="3246301"/>
            <a:ext cx="1144418" cy="353931"/>
          </a:xfrm>
          <a:prstGeom prst="roundRect">
            <a:avLst/>
          </a:prstGeom>
          <a:noFill/>
          <a:ln w="38100">
            <a:solidFill>
              <a:srgbClr val="03369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2B9E955-1856-ADAD-D08A-F9CCCB59B533}"/>
              </a:ext>
            </a:extLst>
          </p:cNvPr>
          <p:cNvGrpSpPr/>
          <p:nvPr/>
        </p:nvGrpSpPr>
        <p:grpSpPr>
          <a:xfrm>
            <a:off x="0" y="0"/>
            <a:ext cx="12192000" cy="742122"/>
            <a:chOff x="0" y="0"/>
            <a:chExt cx="12192000" cy="742122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5EF5321B-B84B-D71B-8A3E-C49C5169F44E}"/>
                </a:ext>
              </a:extLst>
            </p:cNvPr>
            <p:cNvSpPr/>
            <p:nvPr/>
          </p:nvSpPr>
          <p:spPr>
            <a:xfrm>
              <a:off x="0" y="0"/>
              <a:ext cx="12192000" cy="742122"/>
            </a:xfrm>
            <a:prstGeom prst="rect">
              <a:avLst/>
            </a:prstGeom>
            <a:solidFill>
              <a:srgbClr val="033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 dirty="0">
                  <a:latin typeface="+mn-ea"/>
                </a:rPr>
                <a:t>	现有工作 </a:t>
              </a:r>
              <a:r>
                <a:rPr lang="en-US" altLang="zh-CN" sz="2800" b="1" dirty="0">
                  <a:latin typeface="+mn-ea"/>
                </a:rPr>
                <a:t>--</a:t>
              </a:r>
              <a:r>
                <a:rPr lang="zh-CN" altLang="en-US" sz="2800" b="1" dirty="0">
                  <a:latin typeface="+mn-ea"/>
                </a:rPr>
                <a:t>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基于 </a:t>
              </a:r>
              <a:r>
                <a:rPr lang="de-DE" altLang="zh-CN" sz="2800" b="1" dirty="0" err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ViT</a:t>
              </a:r>
              <a:r>
                <a:rPr lang="de-DE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改进的医学影像分割方法研究</a:t>
              </a:r>
              <a:endParaRPr lang="zh-CN" altLang="en-US" sz="2800" b="1" dirty="0">
                <a:latin typeface="+mn-ea"/>
              </a:endParaRPr>
            </a:p>
          </p:txBody>
        </p: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FA0A24A-F7B3-F4EB-B602-F7B783E96E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5" t="56924" r="3732"/>
            <a:stretch/>
          </p:blipFill>
          <p:spPr>
            <a:xfrm>
              <a:off x="11113160" y="62962"/>
              <a:ext cx="481280" cy="6101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342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55C2BF1E-4A3D-4317-8CD5-D25C5536001C}"/>
              </a:ext>
            </a:extLst>
          </p:cNvPr>
          <p:cNvSpPr/>
          <p:nvPr/>
        </p:nvSpPr>
        <p:spPr>
          <a:xfrm>
            <a:off x="0" y="6566848"/>
            <a:ext cx="12192000" cy="297976"/>
          </a:xfrm>
          <a:prstGeom prst="rect">
            <a:avLst/>
          </a:prstGeom>
          <a:solidFill>
            <a:srgbClr val="0336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1200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BE4F806E-4122-F9D6-08FA-0F6B7C623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1877F-E277-41EB-B983-C8E25D9C29E3}" type="slidenum">
              <a:rPr lang="en-US" altLang="zh-CN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fld>
            <a:endParaRPr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04C6271-53A1-D8AF-A304-E34266A9450A}"/>
              </a:ext>
            </a:extLst>
          </p:cNvPr>
          <p:cNvGrpSpPr/>
          <p:nvPr/>
        </p:nvGrpSpPr>
        <p:grpSpPr>
          <a:xfrm>
            <a:off x="0" y="0"/>
            <a:ext cx="12192000" cy="742122"/>
            <a:chOff x="0" y="0"/>
            <a:chExt cx="12192000" cy="742122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0827295-678F-9CCD-0DA8-D8C333533FFC}"/>
                </a:ext>
              </a:extLst>
            </p:cNvPr>
            <p:cNvSpPr/>
            <p:nvPr/>
          </p:nvSpPr>
          <p:spPr>
            <a:xfrm>
              <a:off x="0" y="0"/>
              <a:ext cx="12192000" cy="742122"/>
            </a:xfrm>
            <a:prstGeom prst="rect">
              <a:avLst/>
            </a:prstGeom>
            <a:solidFill>
              <a:srgbClr val="0336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	暑期安排、预期成果</a:t>
              </a: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0D8A4CC4-45B5-C145-7710-4324D7C3FB6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45" t="56924" r="3732"/>
            <a:stretch/>
          </p:blipFill>
          <p:spPr>
            <a:xfrm>
              <a:off x="11113160" y="62962"/>
              <a:ext cx="481280" cy="610129"/>
            </a:xfrm>
            <a:prstGeom prst="rect">
              <a:avLst/>
            </a:prstGeom>
          </p:spPr>
        </p:pic>
      </p:grp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1478EEB-B973-D119-0AFF-B8704BF04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006435"/>
              </p:ext>
            </p:extLst>
          </p:nvPr>
        </p:nvGraphicFramePr>
        <p:xfrm>
          <a:off x="2692318" y="1102524"/>
          <a:ext cx="8278587" cy="2589672"/>
        </p:xfrm>
        <a:graphic>
          <a:graphicData uri="http://schemas.openxmlformats.org/drawingml/2006/table">
            <a:tbl>
              <a:tblPr/>
              <a:tblGrid>
                <a:gridCol w="522515">
                  <a:extLst>
                    <a:ext uri="{9D8B030D-6E8A-4147-A177-3AD203B41FA5}">
                      <a16:colId xmlns:a16="http://schemas.microsoft.com/office/drawing/2014/main" val="1819700035"/>
                    </a:ext>
                  </a:extLst>
                </a:gridCol>
                <a:gridCol w="2302329">
                  <a:extLst>
                    <a:ext uri="{9D8B030D-6E8A-4147-A177-3AD203B41FA5}">
                      <a16:colId xmlns:a16="http://schemas.microsoft.com/office/drawing/2014/main" val="2239827424"/>
                    </a:ext>
                  </a:extLst>
                </a:gridCol>
                <a:gridCol w="3249386">
                  <a:extLst>
                    <a:ext uri="{9D8B030D-6E8A-4147-A177-3AD203B41FA5}">
                      <a16:colId xmlns:a16="http://schemas.microsoft.com/office/drawing/2014/main" val="99904765"/>
                    </a:ext>
                  </a:extLst>
                </a:gridCol>
                <a:gridCol w="996043">
                  <a:extLst>
                    <a:ext uri="{9D8B030D-6E8A-4147-A177-3AD203B41FA5}">
                      <a16:colId xmlns:a16="http://schemas.microsoft.com/office/drawing/2014/main" val="982245482"/>
                    </a:ext>
                  </a:extLst>
                </a:gridCol>
                <a:gridCol w="1208314">
                  <a:extLst>
                    <a:ext uri="{9D8B030D-6E8A-4147-A177-3AD203B41FA5}">
                      <a16:colId xmlns:a16="http://schemas.microsoft.com/office/drawing/2014/main" val="778860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br>
                        <a:rPr lang="zh-CN" altLang="en-US" b="1" noProof="0" dirty="0">
                          <a:effectLst/>
                          <a:latin typeface="Helvetica" pitchFamily="2" charset="0"/>
                        </a:rPr>
                      </a:br>
                      <a:endParaRPr lang="zh-CN" altLang="en-US" b="1" noProof="0" dirty="0">
                        <a:effectLst/>
                        <a:latin typeface="Helvetica" pitchFamily="2" charset="0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noProof="0" dirty="0">
                          <a:effectLst/>
                          <a:latin typeface=".PingFang SC"/>
                        </a:rPr>
                        <a:t>大学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noProof="0" dirty="0">
                          <a:effectLst/>
                          <a:latin typeface=".PingFang SC"/>
                        </a:rPr>
                        <a:t>专业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noProof="0" dirty="0">
                          <a:effectLst/>
                          <a:latin typeface=".PingFang SC"/>
                        </a:rPr>
                        <a:t>状态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1" noProof="0" dirty="0">
                          <a:effectLst/>
                          <a:latin typeface=".PingFang SC"/>
                        </a:rPr>
                        <a:t>申请时间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150399"/>
                  </a:ext>
                </a:extLst>
              </a:tr>
              <a:tr h="344453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noProof="0" dirty="0">
                          <a:effectLst/>
                          <a:latin typeface=".AppleSystemUIFont"/>
                        </a:rPr>
                        <a:t>1</a:t>
                      </a:r>
                      <a:endParaRPr lang="zh-CN" altLang="en-US" noProof="0" dirty="0">
                        <a:effectLst/>
                        <a:latin typeface=".AppleSystemUIFont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noProof="0" dirty="0">
                          <a:effectLst/>
                          <a:latin typeface=".PingFang SC"/>
                        </a:rPr>
                        <a:t>纽伦堡大学</a:t>
                      </a:r>
                      <a:r>
                        <a:rPr lang="zh-CN" altLang="en-US" noProof="0" dirty="0">
                          <a:effectLst/>
                          <a:latin typeface=".AppleSystemUIFont"/>
                        </a:rPr>
                        <a:t> </a:t>
                      </a:r>
                      <a:r>
                        <a:rPr lang="de-DE" altLang="zh-CN" noProof="0" dirty="0">
                          <a:effectLst/>
                          <a:latin typeface=".AppleSystemUIFont"/>
                        </a:rPr>
                        <a:t>FAU</a:t>
                      </a:r>
                      <a:endParaRPr lang="zh-CN" altLang="de-DE" noProof="0" dirty="0">
                        <a:effectLst/>
                        <a:latin typeface=".PingFang SC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altLang="zh-CN" noProof="0" dirty="0" err="1">
                          <a:effectLst/>
                          <a:latin typeface=".AppleSystemUIFont"/>
                        </a:rPr>
                        <a:t>Artificial</a:t>
                      </a:r>
                      <a:r>
                        <a:rPr lang="zh-CN" altLang="de-DE" noProof="0" dirty="0">
                          <a:effectLst/>
                          <a:latin typeface=".AppleSystemUIFont"/>
                        </a:rPr>
                        <a:t> </a:t>
                      </a:r>
                      <a:r>
                        <a:rPr lang="de-DE" altLang="zh-CN" noProof="0" dirty="0" err="1">
                          <a:effectLst/>
                          <a:latin typeface=".AppleSystemUIFont"/>
                        </a:rPr>
                        <a:t>Intelligence</a:t>
                      </a:r>
                      <a:endParaRPr lang="zh-CN" altLang="de-DE" noProof="0" dirty="0">
                        <a:effectLst/>
                        <a:latin typeface=".AppleSystemUIFont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noProof="0">
                          <a:effectLst/>
                          <a:latin typeface=".PingFang SC"/>
                        </a:rPr>
                        <a:t>已提交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noProof="0">
                          <a:effectLst/>
                          <a:latin typeface=".AppleSystemUIFont"/>
                        </a:rPr>
                        <a:t>5.31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426915"/>
                  </a:ext>
                </a:extLst>
              </a:tr>
              <a:tr h="666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noProof="0">
                          <a:effectLst/>
                          <a:latin typeface=".AppleSystemUIFont"/>
                        </a:rPr>
                        <a:t>2</a:t>
                      </a:r>
                      <a:endParaRPr lang="zh-CN" altLang="en-US" noProof="0">
                        <a:effectLst/>
                        <a:latin typeface=".AppleSystemUIFont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noProof="0" dirty="0">
                          <a:effectLst/>
                          <a:latin typeface=".PingFang SC"/>
                        </a:rPr>
                        <a:t>汉堡大学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altLang="zh-CN" noProof="0" dirty="0">
                          <a:effectLst/>
                          <a:latin typeface=".AppleSystemUIFont"/>
                        </a:rPr>
                        <a:t>Data Science and </a:t>
                      </a:r>
                      <a:r>
                        <a:rPr lang="de-DE" altLang="zh-CN" noProof="0" dirty="0" err="1">
                          <a:effectLst/>
                          <a:latin typeface=".AppleSystemUIFont"/>
                        </a:rPr>
                        <a:t>Artificial</a:t>
                      </a:r>
                      <a:r>
                        <a:rPr lang="de-DE" altLang="zh-CN" noProof="0" dirty="0">
                          <a:effectLst/>
                          <a:latin typeface=".AppleSystemUIFont"/>
                        </a:rPr>
                        <a:t> </a:t>
                      </a:r>
                      <a:r>
                        <a:rPr lang="de-DE" altLang="zh-CN" noProof="0" dirty="0" err="1">
                          <a:effectLst/>
                          <a:latin typeface=".AppleSystemUIFont"/>
                        </a:rPr>
                        <a:t>Intelligence</a:t>
                      </a:r>
                      <a:r>
                        <a:rPr lang="de-DE" altLang="zh-CN" noProof="0" dirty="0">
                          <a:effectLst/>
                          <a:latin typeface=".AppleSystemUIFont"/>
                        </a:rPr>
                        <a:t> (</a:t>
                      </a:r>
                      <a:r>
                        <a:rPr lang="de-DE" altLang="zh-CN" noProof="0" dirty="0" err="1">
                          <a:effectLst/>
                          <a:latin typeface=".AppleSystemUIFont"/>
                        </a:rPr>
                        <a:t>admission</a:t>
                      </a:r>
                      <a:r>
                        <a:rPr lang="de-DE" altLang="zh-CN" noProof="0" dirty="0">
                          <a:effectLst/>
                          <a:latin typeface=".AppleSystemUIFont"/>
                        </a:rPr>
                        <a:t> </a:t>
                      </a:r>
                      <a:r>
                        <a:rPr lang="de-DE" altLang="zh-CN" noProof="0" dirty="0" err="1">
                          <a:effectLst/>
                          <a:latin typeface=".AppleSystemUIFont"/>
                        </a:rPr>
                        <a:t>restricted</a:t>
                      </a:r>
                      <a:r>
                        <a:rPr lang="de-DE" altLang="zh-CN" noProof="0" dirty="0">
                          <a:effectLst/>
                          <a:latin typeface=".AppleSystemUIFont"/>
                        </a:rPr>
                        <a:t>)</a:t>
                      </a:r>
                      <a:endParaRPr lang="zh-CN" altLang="de-DE" noProof="0" dirty="0">
                        <a:effectLst/>
                        <a:latin typeface=".AppleSystemUIFont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noProof="0" dirty="0">
                          <a:effectLst/>
                          <a:latin typeface=".PingFang SC"/>
                        </a:rPr>
                        <a:t>已提交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noProof="0">
                          <a:effectLst/>
                          <a:latin typeface=".AppleSystemUIFont"/>
                        </a:rPr>
                        <a:t>5.29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9118800"/>
                  </a:ext>
                </a:extLst>
              </a:tr>
              <a:tr h="344453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noProof="0">
                          <a:effectLst/>
                          <a:latin typeface=".AppleSystemUIFont"/>
                        </a:rPr>
                        <a:t>3</a:t>
                      </a:r>
                      <a:endParaRPr lang="zh-CN" altLang="en-US" noProof="0">
                        <a:effectLst/>
                        <a:latin typeface=".AppleSystemUIFont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noProof="0">
                          <a:effectLst/>
                          <a:latin typeface=".PingFang SC"/>
                        </a:rPr>
                        <a:t>卡尔斯鲁厄大学</a:t>
                      </a:r>
                      <a:r>
                        <a:rPr lang="zh-CN" altLang="en-US" noProof="0">
                          <a:effectLst/>
                          <a:latin typeface=".AppleSystemUIFont"/>
                        </a:rPr>
                        <a:t> </a:t>
                      </a:r>
                      <a:r>
                        <a:rPr lang="de-DE" altLang="zh-CN" noProof="0">
                          <a:effectLst/>
                          <a:latin typeface=".AppleSystemUIFont"/>
                        </a:rPr>
                        <a:t>KIT</a:t>
                      </a:r>
                      <a:endParaRPr lang="zh-CN" altLang="de-DE" noProof="0">
                        <a:effectLst/>
                        <a:latin typeface=".PingFang SC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altLang="zh-CN" noProof="0" dirty="0">
                          <a:effectLst/>
                          <a:latin typeface=".AppleSystemUIFont"/>
                        </a:rPr>
                        <a:t>Computer</a:t>
                      </a:r>
                      <a:r>
                        <a:rPr lang="zh-CN" altLang="de-DE" noProof="0" dirty="0">
                          <a:effectLst/>
                          <a:latin typeface=".AppleSystemUIFont"/>
                        </a:rPr>
                        <a:t> </a:t>
                      </a:r>
                      <a:r>
                        <a:rPr lang="de-DE" altLang="zh-CN" noProof="0" dirty="0">
                          <a:effectLst/>
                          <a:latin typeface=".AppleSystemUIFont"/>
                        </a:rPr>
                        <a:t>Science</a:t>
                      </a:r>
                      <a:endParaRPr lang="zh-CN" altLang="de-DE" noProof="0" dirty="0">
                        <a:effectLst/>
                        <a:latin typeface=".AppleSystemUIFont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noProof="0" dirty="0">
                          <a:effectLst/>
                          <a:latin typeface=".PingFang SC"/>
                        </a:rPr>
                        <a:t>已提交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noProof="0" dirty="0">
                          <a:effectLst/>
                          <a:latin typeface=".AppleSystemUIFont"/>
                        </a:rPr>
                        <a:t>6.1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902859"/>
                  </a:ext>
                </a:extLst>
              </a:tr>
              <a:tr h="666538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1" noProof="0">
                          <a:effectLst/>
                          <a:latin typeface=".AppleSystemUIFont"/>
                        </a:rPr>
                        <a:t>4</a:t>
                      </a:r>
                      <a:endParaRPr lang="zh-CN" altLang="en-US" noProof="0">
                        <a:effectLst/>
                        <a:latin typeface=".AppleSystemUIFont"/>
                      </a:endParaRP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noProof="0" dirty="0">
                          <a:effectLst/>
                          <a:latin typeface=".PingFang SC"/>
                        </a:rPr>
                        <a:t>波恩大学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altLang="zh-CN" noProof="0" dirty="0">
                          <a:effectLst/>
                          <a:latin typeface=".AppleSystemUIFont"/>
                        </a:rPr>
                        <a:t>Mobile Robotics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noProof="0" dirty="0">
                          <a:effectLst/>
                          <a:latin typeface=".PingFang SC"/>
                        </a:rPr>
                        <a:t>已提交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noProof="0" dirty="0">
                          <a:effectLst/>
                          <a:latin typeface=".AppleSystemUIFont"/>
                        </a:rPr>
                        <a:t>5.29</a:t>
                      </a:r>
                    </a:p>
                  </a:txBody>
                  <a:tcPr marL="47625" marR="47625" marT="9525" marB="9525" anchor="ctr">
                    <a:lnL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A9A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237274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4C41E8A7-FF87-D58B-DF6D-B8983326277A}"/>
              </a:ext>
            </a:extLst>
          </p:cNvPr>
          <p:cNvSpPr txBox="1"/>
          <p:nvPr/>
        </p:nvSpPr>
        <p:spPr>
          <a:xfrm>
            <a:off x="922975" y="1051707"/>
            <a:ext cx="162095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硕士申请</a:t>
            </a:r>
            <a:endParaRPr lang="en-US" altLang="zh-CN" sz="2800" b="1" dirty="0"/>
          </a:p>
          <a:p>
            <a:r>
              <a:rPr lang="en-US" altLang="zh-CN" sz="2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25WS</a:t>
            </a:r>
            <a:endParaRPr lang="zh-CN" altLang="en-US" sz="2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TextBox 38">
            <a:extLst>
              <a:ext uri="{FF2B5EF4-FFF2-40B4-BE49-F238E27FC236}">
                <a16:creationId xmlns:a16="http://schemas.microsoft.com/office/drawing/2014/main" id="{2329C82B-304B-47C4-767C-8B3AD38E9A93}"/>
              </a:ext>
            </a:extLst>
          </p:cNvPr>
          <p:cNvSpPr txBox="1"/>
          <p:nvPr/>
        </p:nvSpPr>
        <p:spPr>
          <a:xfrm>
            <a:off x="1651794" y="4937939"/>
            <a:ext cx="27237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i="1" dirty="0">
                <a:latin typeface="+mn-ea"/>
              </a:rPr>
              <a:t>符合课程匹配度、满足语言要求</a:t>
            </a:r>
          </a:p>
        </p:txBody>
      </p:sp>
      <p:sp>
        <p:nvSpPr>
          <p:cNvPr id="23" name="TextBox 48">
            <a:extLst>
              <a:ext uri="{FF2B5EF4-FFF2-40B4-BE49-F238E27FC236}">
                <a16:creationId xmlns:a16="http://schemas.microsoft.com/office/drawing/2014/main" id="{9D4B5A9C-96F8-37A3-B1A5-2648C9051339}"/>
              </a:ext>
            </a:extLst>
          </p:cNvPr>
          <p:cNvSpPr txBox="1"/>
          <p:nvPr/>
        </p:nvSpPr>
        <p:spPr>
          <a:xfrm>
            <a:off x="1651794" y="4611580"/>
            <a:ext cx="25710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+mn-ea"/>
                <a:cs typeface="Arial" pitchFamily="34" charset="0"/>
              </a:rPr>
              <a:t>TUM M.Sc. RCI</a:t>
            </a:r>
            <a:r>
              <a:rPr lang="zh-CN" altLang="en-US" sz="1600" b="1" dirty="0">
                <a:latin typeface="+mn-ea"/>
                <a:cs typeface="Arial" pitchFamily="34" charset="0"/>
              </a:rPr>
              <a:t> </a:t>
            </a:r>
            <a:r>
              <a:rPr lang="en-US" altLang="zh-CN" sz="1600" b="1" dirty="0">
                <a:latin typeface="+mn-ea"/>
                <a:cs typeface="Arial" pitchFamily="34" charset="0"/>
              </a:rPr>
              <a:t>26WS   </a:t>
            </a:r>
          </a:p>
        </p:txBody>
      </p:sp>
      <p:pic>
        <p:nvPicPr>
          <p:cNvPr id="24" name="Picture 8" descr="Robot - Free technology icons">
            <a:extLst>
              <a:ext uri="{FF2B5EF4-FFF2-40B4-BE49-F238E27FC236}">
                <a16:creationId xmlns:a16="http://schemas.microsoft.com/office/drawing/2014/main" id="{D0DD06B5-52AC-BB90-FDD2-CA9ADEDAE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75" y="4723119"/>
            <a:ext cx="674896" cy="67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40">
            <a:extLst>
              <a:ext uri="{FF2B5EF4-FFF2-40B4-BE49-F238E27FC236}">
                <a16:creationId xmlns:a16="http://schemas.microsoft.com/office/drawing/2014/main" id="{72C5A054-9902-E462-94EE-072DB03EA0EB}"/>
              </a:ext>
            </a:extLst>
          </p:cNvPr>
          <p:cNvSpPr txBox="1"/>
          <p:nvPr/>
        </p:nvSpPr>
        <p:spPr>
          <a:xfrm>
            <a:off x="1651794" y="5774720"/>
            <a:ext cx="3079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 dirty="0">
                <a:latin typeface="+mn-ea"/>
              </a:rPr>
              <a:t>IELTS 6.5, </a:t>
            </a:r>
            <a:r>
              <a:rPr lang="en-US" altLang="zh-CN" sz="1400" b="1" i="1" dirty="0" err="1">
                <a:latin typeface="+mn-ea"/>
              </a:rPr>
              <a:t>TestDaf</a:t>
            </a:r>
            <a:r>
              <a:rPr lang="zh-CN" altLang="en-US" sz="1400" b="1" i="1" dirty="0">
                <a:latin typeface="+mn-ea"/>
              </a:rPr>
              <a:t> </a:t>
            </a:r>
            <a:r>
              <a:rPr lang="en-US" altLang="zh-CN" sz="1400" b="1" i="1" dirty="0">
                <a:latin typeface="+mn-ea"/>
              </a:rPr>
              <a:t>4*4, GRE </a:t>
            </a:r>
            <a:r>
              <a:rPr lang="zh-CN" altLang="en-US" sz="1400" b="1" i="1" dirty="0">
                <a:latin typeface="+mn-ea"/>
              </a:rPr>
              <a:t>成绩</a:t>
            </a:r>
            <a:br>
              <a:rPr lang="en-US" altLang="zh-CN" sz="1400" i="1" dirty="0">
                <a:latin typeface="+mn-ea"/>
              </a:rPr>
            </a:br>
            <a:r>
              <a:rPr lang="zh-CN" altLang="en-US" sz="1400" i="1" dirty="0">
                <a:latin typeface="+mn-ea"/>
              </a:rPr>
              <a:t>以及</a:t>
            </a:r>
            <a:r>
              <a:rPr lang="en-US" altLang="zh-CN" sz="1400" i="1" dirty="0">
                <a:latin typeface="+mn-ea"/>
              </a:rPr>
              <a:t>APS</a:t>
            </a:r>
            <a:r>
              <a:rPr lang="zh-CN" altLang="en-US" sz="1400" i="1" dirty="0">
                <a:latin typeface="+mn-ea"/>
              </a:rPr>
              <a:t>证书</a:t>
            </a:r>
            <a:r>
              <a:rPr lang="en-US" altLang="zh-CN" sz="1400" i="1" dirty="0">
                <a:latin typeface="+mn-ea"/>
              </a:rPr>
              <a:t>.</a:t>
            </a:r>
            <a:endParaRPr lang="zh-CN" altLang="en-US" sz="1400" i="1" dirty="0">
              <a:latin typeface="+mn-ea"/>
            </a:endParaRPr>
          </a:p>
        </p:txBody>
      </p:sp>
      <p:sp>
        <p:nvSpPr>
          <p:cNvPr id="26" name="TextBox 50">
            <a:extLst>
              <a:ext uri="{FF2B5EF4-FFF2-40B4-BE49-F238E27FC236}">
                <a16:creationId xmlns:a16="http://schemas.microsoft.com/office/drawing/2014/main" id="{40B2FDFB-EABB-5C12-AF07-E09FFA43B36A}"/>
              </a:ext>
            </a:extLst>
          </p:cNvPr>
          <p:cNvSpPr txBox="1"/>
          <p:nvPr/>
        </p:nvSpPr>
        <p:spPr>
          <a:xfrm>
            <a:off x="1651794" y="5464824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latin typeface="+mn-ea"/>
                <a:cs typeface="Arial" pitchFamily="34" charset="0"/>
              </a:rPr>
              <a:t>德语、英语能力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05A02EC1-7D65-30D8-FEFB-95F7C78F98B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84" t="9415" r="32084" b="15124"/>
          <a:stretch/>
        </p:blipFill>
        <p:spPr>
          <a:xfrm>
            <a:off x="757035" y="5587387"/>
            <a:ext cx="894759" cy="710553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1321BFE6-3001-5C72-E691-FAFC6B8FD62D}"/>
              </a:ext>
            </a:extLst>
          </p:cNvPr>
          <p:cNvSpPr txBox="1"/>
          <p:nvPr/>
        </p:nvSpPr>
        <p:spPr>
          <a:xfrm>
            <a:off x="4895691" y="3930808"/>
            <a:ext cx="1415772" cy="461665"/>
          </a:xfrm>
          <a:prstGeom prst="rect">
            <a:avLst/>
          </a:prstGeom>
          <a:noFill/>
          <a:ln w="38100">
            <a:solidFill>
              <a:srgbClr val="033694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033694"/>
                </a:solidFill>
                <a:latin typeface="+mn-ea"/>
              </a:rPr>
              <a:t>预计成果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B8DD3AE-78DE-B718-EE4B-544FD429E604}"/>
              </a:ext>
            </a:extLst>
          </p:cNvPr>
          <p:cNvSpPr/>
          <p:nvPr/>
        </p:nvSpPr>
        <p:spPr>
          <a:xfrm>
            <a:off x="7109568" y="3977918"/>
            <a:ext cx="3619366" cy="540000"/>
          </a:xfrm>
          <a:prstGeom prst="rect">
            <a:avLst/>
          </a:prstGeom>
          <a:solidFill>
            <a:srgbClr val="1D82A8"/>
          </a:solidFill>
          <a:ln w="114300">
            <a:solidFill>
              <a:srgbClr val="1D82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硕士申请结果</a:t>
            </a:r>
            <a:endParaRPr kumimoji="1" lang="zh-CN" altLang="de-DE" dirty="0">
              <a:latin typeface="+mn-ea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BC5339B-97E5-1FA7-ED6B-392C9CCFDD2E}"/>
              </a:ext>
            </a:extLst>
          </p:cNvPr>
          <p:cNvSpPr/>
          <p:nvPr/>
        </p:nvSpPr>
        <p:spPr>
          <a:xfrm>
            <a:off x="6831612" y="3977918"/>
            <a:ext cx="540000" cy="540000"/>
          </a:xfrm>
          <a:prstGeom prst="ellipse">
            <a:avLst/>
          </a:prstGeom>
          <a:solidFill>
            <a:srgbClr val="1D82A8"/>
          </a:solidFill>
          <a:ln w="114300">
            <a:solidFill>
              <a:srgbClr val="14617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+mn-ea"/>
              </a:rPr>
              <a:t>1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3E8685B-54BB-0B98-75B2-AD354AECEE3F}"/>
              </a:ext>
            </a:extLst>
          </p:cNvPr>
          <p:cNvSpPr/>
          <p:nvPr/>
        </p:nvSpPr>
        <p:spPr>
          <a:xfrm>
            <a:off x="7101612" y="4838624"/>
            <a:ext cx="3627321" cy="540000"/>
          </a:xfrm>
          <a:prstGeom prst="rect">
            <a:avLst/>
          </a:prstGeom>
          <a:solidFill>
            <a:srgbClr val="C12933">
              <a:alpha val="99000"/>
            </a:srgbClr>
          </a:solidFill>
          <a:ln w="114300">
            <a:solidFill>
              <a:srgbClr val="C129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1800" dirty="0">
                <a:latin typeface="+mn-ea"/>
              </a:rPr>
              <a:t>可能的项目内容推进</a:t>
            </a:r>
            <a:endParaRPr lang="en-US" altLang="zh-CN" sz="1800" dirty="0">
              <a:latin typeface="+mn-ea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B3EDCBF-00B6-EFD8-A8C8-7E76E0A30C16}"/>
              </a:ext>
            </a:extLst>
          </p:cNvPr>
          <p:cNvSpPr/>
          <p:nvPr/>
        </p:nvSpPr>
        <p:spPr>
          <a:xfrm>
            <a:off x="6831612" y="4838624"/>
            <a:ext cx="540000" cy="540000"/>
          </a:xfrm>
          <a:prstGeom prst="ellipse">
            <a:avLst/>
          </a:prstGeom>
          <a:solidFill>
            <a:srgbClr val="C12933"/>
          </a:solidFill>
          <a:ln w="114300">
            <a:solidFill>
              <a:srgbClr val="901E2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+mn-ea"/>
              </a:rPr>
              <a:t>2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2A376DF-C763-BE04-CA25-E4A35CBD741F}"/>
              </a:ext>
            </a:extLst>
          </p:cNvPr>
          <p:cNvSpPr/>
          <p:nvPr/>
        </p:nvSpPr>
        <p:spPr>
          <a:xfrm>
            <a:off x="7109568" y="5732783"/>
            <a:ext cx="3618724" cy="538588"/>
          </a:xfrm>
          <a:prstGeom prst="rect">
            <a:avLst/>
          </a:prstGeom>
          <a:solidFill>
            <a:srgbClr val="59AAA8"/>
          </a:solidFill>
          <a:ln w="114300">
            <a:solidFill>
              <a:srgbClr val="59AA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+mn-ea"/>
              </a:rPr>
              <a:t>符合要求的</a:t>
            </a:r>
            <a:r>
              <a:rPr kumimoji="1" lang="de-DE" altLang="zh-CN" dirty="0">
                <a:latin typeface="+mn-ea"/>
              </a:rPr>
              <a:t>GRE</a:t>
            </a:r>
            <a:r>
              <a:rPr kumimoji="1" lang="zh-CN" altLang="en-US" dirty="0">
                <a:latin typeface="+mn-ea"/>
              </a:rPr>
              <a:t>成绩</a:t>
            </a:r>
            <a:endParaRPr kumimoji="1" lang="zh-CN" altLang="de-DE" dirty="0">
              <a:latin typeface="+mn-ea"/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5341FC9D-1690-3B80-852B-5009AD33A88B}"/>
              </a:ext>
            </a:extLst>
          </p:cNvPr>
          <p:cNvSpPr/>
          <p:nvPr/>
        </p:nvSpPr>
        <p:spPr>
          <a:xfrm>
            <a:off x="6831612" y="5731371"/>
            <a:ext cx="540000" cy="540000"/>
          </a:xfrm>
          <a:prstGeom prst="ellipse">
            <a:avLst/>
          </a:prstGeom>
          <a:solidFill>
            <a:srgbClr val="59AAA8"/>
          </a:solidFill>
          <a:ln w="114300">
            <a:solidFill>
              <a:srgbClr val="4181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latin typeface="+mn-ea"/>
              </a:rPr>
              <a:t>3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19420955-6566-D27C-CD9C-ACF3DD4D037F}"/>
              </a:ext>
            </a:extLst>
          </p:cNvPr>
          <p:cNvSpPr txBox="1"/>
          <p:nvPr/>
        </p:nvSpPr>
        <p:spPr>
          <a:xfrm>
            <a:off x="1166304" y="3930808"/>
            <a:ext cx="1723549" cy="461665"/>
          </a:xfrm>
          <a:prstGeom prst="rect">
            <a:avLst/>
          </a:prstGeom>
          <a:noFill/>
          <a:ln w="38100">
            <a:solidFill>
              <a:srgbClr val="033694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2400" b="1" dirty="0">
                <a:solidFill>
                  <a:srgbClr val="033694"/>
                </a:solidFill>
                <a:latin typeface="+mn-ea"/>
              </a:rPr>
              <a:t>如果都被拒</a:t>
            </a:r>
          </a:p>
        </p:txBody>
      </p:sp>
    </p:spTree>
    <p:extLst>
      <p:ext uri="{BB962C8B-B14F-4D97-AF65-F5344CB8AC3E}">
        <p14:creationId xmlns:p14="http://schemas.microsoft.com/office/powerpoint/2010/main" val="1306492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FC851440-4558-F351-085F-D74A8EDAB242}"/>
              </a:ext>
            </a:extLst>
          </p:cNvPr>
          <p:cNvSpPr/>
          <p:nvPr/>
        </p:nvSpPr>
        <p:spPr>
          <a:xfrm>
            <a:off x="0" y="1351206"/>
            <a:ext cx="12192000" cy="3798446"/>
          </a:xfrm>
          <a:prstGeom prst="rect">
            <a:avLst/>
          </a:prstGeom>
          <a:solidFill>
            <a:srgbClr val="03369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33693"/>
              </a:solidFill>
            </a:endParaRPr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C880070C-94C8-0FFE-9718-68D7A456016B}"/>
              </a:ext>
            </a:extLst>
          </p:cNvPr>
          <p:cNvGrpSpPr/>
          <p:nvPr/>
        </p:nvGrpSpPr>
        <p:grpSpPr>
          <a:xfrm>
            <a:off x="1146183" y="190069"/>
            <a:ext cx="4235158" cy="946960"/>
            <a:chOff x="1146183" y="146683"/>
            <a:chExt cx="4235158" cy="946960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D7A3536-3AAB-F6AD-FCF8-F8C847F9BF2E}"/>
                </a:ext>
              </a:extLst>
            </p:cNvPr>
            <p:cNvSpPr txBox="1"/>
            <p:nvPr/>
          </p:nvSpPr>
          <p:spPr>
            <a:xfrm>
              <a:off x="2030842" y="146683"/>
              <a:ext cx="3339376" cy="7232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sz="4100" b="1" dirty="0">
                  <a:solidFill>
                    <a:srgbClr val="033693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深圳技术大学</a:t>
              </a:r>
            </a:p>
          </p:txBody>
        </p:sp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8299DBEF-F997-519A-33D0-48A5966D00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6183" y="190623"/>
              <a:ext cx="704753" cy="859798"/>
            </a:xfrm>
            <a:prstGeom prst="rect">
              <a:avLst/>
            </a:prstGeom>
          </p:spPr>
        </p:pic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E0C6AEA9-4522-B622-5B0D-6C071D2B55D4}"/>
                </a:ext>
              </a:extLst>
            </p:cNvPr>
            <p:cNvSpPr txBox="1"/>
            <p:nvPr/>
          </p:nvSpPr>
          <p:spPr>
            <a:xfrm>
              <a:off x="2041965" y="785866"/>
              <a:ext cx="33393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370" b="1" dirty="0">
                  <a:solidFill>
                    <a:srgbClr val="033693"/>
                  </a:solidFill>
                  <a:latin typeface="DengXian" panose="02010600030101010101" pitchFamily="2" charset="-122"/>
                  <a:ea typeface="DengXian" panose="02010600030101010101" pitchFamily="2" charset="-122"/>
                </a:rPr>
                <a:t>SHENZHEN TECHNOLOGY UNIVERSITY</a:t>
              </a:r>
              <a:endParaRPr kumimoji="1" lang="zh-CN" altLang="en-US" sz="1370" b="1" dirty="0">
                <a:solidFill>
                  <a:srgbClr val="033693"/>
                </a:solidFill>
                <a:latin typeface="DengXian" panose="02010600030101010101" pitchFamily="2" charset="-122"/>
                <a:ea typeface="DengXian" panose="02010600030101010101" pitchFamily="2" charset="-122"/>
              </a:endParaRP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19F52BBA-E8F0-E3C2-8B79-0FB1708DFFF0}"/>
              </a:ext>
            </a:extLst>
          </p:cNvPr>
          <p:cNvGrpSpPr/>
          <p:nvPr/>
        </p:nvGrpSpPr>
        <p:grpSpPr>
          <a:xfrm>
            <a:off x="7979365" y="1470356"/>
            <a:ext cx="3136991" cy="3641702"/>
            <a:chOff x="5887126" y="1496114"/>
            <a:chExt cx="3136991" cy="3641702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2E2431D5-73A2-B19C-2194-B84FB4504ECC}"/>
                </a:ext>
              </a:extLst>
            </p:cNvPr>
            <p:cNvGrpSpPr/>
            <p:nvPr/>
          </p:nvGrpSpPr>
          <p:grpSpPr>
            <a:xfrm>
              <a:off x="5887126" y="1496114"/>
              <a:ext cx="3136991" cy="3641702"/>
              <a:chOff x="6020233" y="1447919"/>
              <a:chExt cx="3136991" cy="3641702"/>
            </a:xfrm>
          </p:grpSpPr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588176B-7F8E-EA3A-7AE0-10DC6A479097}"/>
                  </a:ext>
                </a:extLst>
              </p:cNvPr>
              <p:cNvGrpSpPr/>
              <p:nvPr/>
            </p:nvGrpSpPr>
            <p:grpSpPr>
              <a:xfrm>
                <a:off x="6020233" y="1447919"/>
                <a:ext cx="2889676" cy="3641702"/>
                <a:chOff x="6020233" y="1447919"/>
                <a:chExt cx="2889676" cy="3641702"/>
              </a:xfrm>
            </p:grpSpPr>
            <p:grpSp>
              <p:nvGrpSpPr>
                <p:cNvPr id="49" name="组合 48">
                  <a:extLst>
                    <a:ext uri="{FF2B5EF4-FFF2-40B4-BE49-F238E27FC236}">
                      <a16:creationId xmlns:a16="http://schemas.microsoft.com/office/drawing/2014/main" id="{E1331E08-6AD5-C134-128E-041CDBC902CB}"/>
                    </a:ext>
                  </a:extLst>
                </p:cNvPr>
                <p:cNvGrpSpPr/>
                <p:nvPr/>
              </p:nvGrpSpPr>
              <p:grpSpPr>
                <a:xfrm>
                  <a:off x="6020233" y="1447919"/>
                  <a:ext cx="2889676" cy="3641702"/>
                  <a:chOff x="6020233" y="1447919"/>
                  <a:chExt cx="2889676" cy="3641702"/>
                </a:xfrm>
              </p:grpSpPr>
              <p:grpSp>
                <p:nvGrpSpPr>
                  <p:cNvPr id="59" name="组合 58">
                    <a:extLst>
                      <a:ext uri="{FF2B5EF4-FFF2-40B4-BE49-F238E27FC236}">
                        <a16:creationId xmlns:a16="http://schemas.microsoft.com/office/drawing/2014/main" id="{FCE75263-23B2-74A0-802D-583F5BDD1E21}"/>
                      </a:ext>
                    </a:extLst>
                  </p:cNvPr>
                  <p:cNvGrpSpPr/>
                  <p:nvPr/>
                </p:nvGrpSpPr>
                <p:grpSpPr>
                  <a:xfrm>
                    <a:off x="6020233" y="1447919"/>
                    <a:ext cx="2889676" cy="3641702"/>
                    <a:chOff x="8949365" y="1470356"/>
                    <a:chExt cx="2889676" cy="3641702"/>
                  </a:xfrm>
                </p:grpSpPr>
                <p:sp>
                  <p:nvSpPr>
                    <p:cNvPr id="61" name="矩形 60">
                      <a:extLst>
                        <a:ext uri="{FF2B5EF4-FFF2-40B4-BE49-F238E27FC236}">
                          <a16:creationId xmlns:a16="http://schemas.microsoft.com/office/drawing/2014/main" id="{AE8F1AE3-9D78-5151-802F-B06D551B75D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54927" y="1470356"/>
                      <a:ext cx="2872638" cy="3641702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sp>
                  <p:nvSpPr>
                    <p:cNvPr id="62" name="三角形 61">
                      <a:extLst>
                        <a:ext uri="{FF2B5EF4-FFF2-40B4-BE49-F238E27FC236}">
                          <a16:creationId xmlns:a16="http://schemas.microsoft.com/office/drawing/2014/main" id="{0B398E50-526E-7B5F-3FFC-1203B8BABC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949365" y="3975737"/>
                      <a:ext cx="1442057" cy="1136321"/>
                    </a:xfrm>
                    <a:prstGeom prst="triangle">
                      <a:avLst>
                        <a:gd name="adj" fmla="val 0"/>
                      </a:avLst>
                    </a:prstGeom>
                    <a:solidFill>
                      <a:srgbClr val="033693"/>
                    </a:solidFill>
                    <a:ln>
                      <a:solidFill>
                        <a:srgbClr val="03369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  <p:sp>
                  <p:nvSpPr>
                    <p:cNvPr id="63" name="三角形 62">
                      <a:extLst>
                        <a:ext uri="{FF2B5EF4-FFF2-40B4-BE49-F238E27FC236}">
                          <a16:creationId xmlns:a16="http://schemas.microsoft.com/office/drawing/2014/main" id="{A085A06F-1689-A636-5987-668B0C5D24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396984" y="3975736"/>
                      <a:ext cx="1442057" cy="1136321"/>
                    </a:xfrm>
                    <a:prstGeom prst="triangle">
                      <a:avLst>
                        <a:gd name="adj" fmla="val 100000"/>
                      </a:avLst>
                    </a:prstGeom>
                    <a:solidFill>
                      <a:srgbClr val="033693"/>
                    </a:solidFill>
                    <a:ln>
                      <a:solidFill>
                        <a:srgbClr val="033693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kumimoji="1" lang="zh-CN" altLang="en-US"/>
                    </a:p>
                  </p:txBody>
                </p:sp>
              </p:grpSp>
              <p:sp>
                <p:nvSpPr>
                  <p:cNvPr id="60" name="任意形状 59">
                    <a:extLst>
                      <a:ext uri="{FF2B5EF4-FFF2-40B4-BE49-F238E27FC236}">
                        <a16:creationId xmlns:a16="http://schemas.microsoft.com/office/drawing/2014/main" id="{6972547A-28B1-8C12-0D0E-FE75B3ECC2AA}"/>
                      </a:ext>
                    </a:extLst>
                  </p:cNvPr>
                  <p:cNvSpPr/>
                  <p:nvPr/>
                </p:nvSpPr>
                <p:spPr>
                  <a:xfrm>
                    <a:off x="6081353" y="1506770"/>
                    <a:ext cx="2746842" cy="3442444"/>
                  </a:xfrm>
                  <a:custGeom>
                    <a:avLst/>
                    <a:gdLst>
                      <a:gd name="connsiteX0" fmla="*/ 0 w 2746842"/>
                      <a:gd name="connsiteY0" fmla="*/ 0 h 3442444"/>
                      <a:gd name="connsiteX1" fmla="*/ 0 w 2746842"/>
                      <a:gd name="connsiteY1" fmla="*/ 2354094 h 3442444"/>
                      <a:gd name="connsiteX2" fmla="*/ 1368208 w 2746842"/>
                      <a:gd name="connsiteY2" fmla="*/ 3442444 h 3442444"/>
                      <a:gd name="connsiteX3" fmla="*/ 2746842 w 2746842"/>
                      <a:gd name="connsiteY3" fmla="*/ 2338130 h 3442444"/>
                      <a:gd name="connsiteX4" fmla="*/ 2739808 w 2746842"/>
                      <a:gd name="connsiteY4" fmla="*/ 2893 h 3442444"/>
                      <a:gd name="connsiteX5" fmla="*/ 0 w 2746842"/>
                      <a:gd name="connsiteY5" fmla="*/ 0 h 34424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2746842" h="3442444">
                        <a:moveTo>
                          <a:pt x="0" y="0"/>
                        </a:moveTo>
                        <a:lnTo>
                          <a:pt x="0" y="2354094"/>
                        </a:lnTo>
                        <a:lnTo>
                          <a:pt x="1368208" y="3442444"/>
                        </a:lnTo>
                        <a:lnTo>
                          <a:pt x="2746842" y="2338130"/>
                        </a:lnTo>
                        <a:cubicBezTo>
                          <a:pt x="2744497" y="1559718"/>
                          <a:pt x="2742153" y="781305"/>
                          <a:pt x="2739808" y="2893"/>
                        </a:cubicBezTo>
                        <a:lnTo>
                          <a:pt x="0" y="0"/>
                        </a:lnTo>
                        <a:close/>
                      </a:path>
                    </a:pathLst>
                  </a:custGeom>
                  <a:noFill/>
                  <a:ln w="25400"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  <p:grpSp>
              <p:nvGrpSpPr>
                <p:cNvPr id="50" name="组合 49">
                  <a:extLst>
                    <a:ext uri="{FF2B5EF4-FFF2-40B4-BE49-F238E27FC236}">
                      <a16:creationId xmlns:a16="http://schemas.microsoft.com/office/drawing/2014/main" id="{AE2A0CDF-E44F-ACA3-4272-461BA8D8F6A1}"/>
                    </a:ext>
                  </a:extLst>
                </p:cNvPr>
                <p:cNvGrpSpPr/>
                <p:nvPr/>
              </p:nvGrpSpPr>
              <p:grpSpPr>
                <a:xfrm>
                  <a:off x="6095418" y="3227992"/>
                  <a:ext cx="2720385" cy="356400"/>
                  <a:chOff x="9018697" y="3243601"/>
                  <a:chExt cx="2720385" cy="356400"/>
                </a:xfrm>
              </p:grpSpPr>
              <p:sp>
                <p:nvSpPr>
                  <p:cNvPr id="53" name="矩形 52">
                    <a:extLst>
                      <a:ext uri="{FF2B5EF4-FFF2-40B4-BE49-F238E27FC236}">
                        <a16:creationId xmlns:a16="http://schemas.microsoft.com/office/drawing/2014/main" id="{D1FFEBD7-8784-988D-0319-39BE8DABEC5C}"/>
                      </a:ext>
                    </a:extLst>
                  </p:cNvPr>
                  <p:cNvSpPr/>
                  <p:nvPr/>
                </p:nvSpPr>
                <p:spPr>
                  <a:xfrm>
                    <a:off x="9018697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4" name="矩形 53">
                    <a:extLst>
                      <a:ext uri="{FF2B5EF4-FFF2-40B4-BE49-F238E27FC236}">
                        <a16:creationId xmlns:a16="http://schemas.microsoft.com/office/drawing/2014/main" id="{29DE478C-E8BE-5D5C-A429-39C0E49E9FF8}"/>
                      </a:ext>
                    </a:extLst>
                  </p:cNvPr>
                  <p:cNvSpPr/>
                  <p:nvPr/>
                </p:nvSpPr>
                <p:spPr>
                  <a:xfrm>
                    <a:off x="9488614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5" name="矩形 54">
                    <a:extLst>
                      <a:ext uri="{FF2B5EF4-FFF2-40B4-BE49-F238E27FC236}">
                        <a16:creationId xmlns:a16="http://schemas.microsoft.com/office/drawing/2014/main" id="{4857F5D7-F026-FD9F-8890-37C44382ABFF}"/>
                      </a:ext>
                    </a:extLst>
                  </p:cNvPr>
                  <p:cNvSpPr/>
                  <p:nvPr/>
                </p:nvSpPr>
                <p:spPr>
                  <a:xfrm>
                    <a:off x="9958531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6" name="矩形 55">
                    <a:extLst>
                      <a:ext uri="{FF2B5EF4-FFF2-40B4-BE49-F238E27FC236}">
                        <a16:creationId xmlns:a16="http://schemas.microsoft.com/office/drawing/2014/main" id="{19264636-7814-5996-EC42-6FD6B008EE9A}"/>
                      </a:ext>
                    </a:extLst>
                  </p:cNvPr>
                  <p:cNvSpPr/>
                  <p:nvPr/>
                </p:nvSpPr>
                <p:spPr>
                  <a:xfrm>
                    <a:off x="10428448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7" name="矩形 56">
                    <a:extLst>
                      <a:ext uri="{FF2B5EF4-FFF2-40B4-BE49-F238E27FC236}">
                        <a16:creationId xmlns:a16="http://schemas.microsoft.com/office/drawing/2014/main" id="{98D2DE17-46DF-94D4-9931-E85021362EDD}"/>
                      </a:ext>
                    </a:extLst>
                  </p:cNvPr>
                  <p:cNvSpPr/>
                  <p:nvPr/>
                </p:nvSpPr>
                <p:spPr>
                  <a:xfrm>
                    <a:off x="10898365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  <p:sp>
                <p:nvSpPr>
                  <p:cNvPr id="58" name="矩形 57">
                    <a:extLst>
                      <a:ext uri="{FF2B5EF4-FFF2-40B4-BE49-F238E27FC236}">
                        <a16:creationId xmlns:a16="http://schemas.microsoft.com/office/drawing/2014/main" id="{D9395FE4-55D6-9A10-6C3E-71E8B938A4F4}"/>
                      </a:ext>
                    </a:extLst>
                  </p:cNvPr>
                  <p:cNvSpPr/>
                  <p:nvPr/>
                </p:nvSpPr>
                <p:spPr>
                  <a:xfrm>
                    <a:off x="11368282" y="3243601"/>
                    <a:ext cx="370800" cy="356400"/>
                  </a:xfrm>
                  <a:prstGeom prst="rect">
                    <a:avLst/>
                  </a:prstGeom>
                  <a:solidFill>
                    <a:srgbClr val="033693"/>
                  </a:solidFill>
                  <a:ln>
                    <a:solidFill>
                      <a:srgbClr val="033693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kumimoji="1" lang="zh-CN" altLang="en-US"/>
                  </a:p>
                </p:txBody>
              </p:sp>
            </p:grpSp>
            <p:cxnSp>
              <p:nvCxnSpPr>
                <p:cNvPr id="51" name="直线连接符 50">
                  <a:extLst>
                    <a:ext uri="{FF2B5EF4-FFF2-40B4-BE49-F238E27FC236}">
                      <a16:creationId xmlns:a16="http://schemas.microsoft.com/office/drawing/2014/main" id="{2A5F40FE-1ACB-2F81-A764-F3ECDD9B78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88693" y="3122107"/>
                  <a:ext cx="2746842" cy="0"/>
                </a:xfrm>
                <a:prstGeom prst="line">
                  <a:avLst/>
                </a:prstGeom>
                <a:ln w="25400">
                  <a:solidFill>
                    <a:srgbClr val="03369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直线连接符 51">
                  <a:extLst>
                    <a:ext uri="{FF2B5EF4-FFF2-40B4-BE49-F238E27FC236}">
                      <a16:creationId xmlns:a16="http://schemas.microsoft.com/office/drawing/2014/main" id="{6F24034C-F895-AA99-F867-D6EFF54401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088693" y="2322400"/>
                  <a:ext cx="2746842" cy="0"/>
                </a:xfrm>
                <a:prstGeom prst="line">
                  <a:avLst/>
                </a:prstGeom>
                <a:ln w="25400">
                  <a:solidFill>
                    <a:srgbClr val="03369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46" name="图片 45">
                <a:extLst>
                  <a:ext uri="{FF2B5EF4-FFF2-40B4-BE49-F238E27FC236}">
                    <a16:creationId xmlns:a16="http://schemas.microsoft.com/office/drawing/2014/main" id="{A1A74680-3DD0-C691-C9FD-96FB9B25E36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822" t="17175" r="7258" b="10240"/>
              <a:stretch/>
            </p:blipFill>
            <p:spPr>
              <a:xfrm>
                <a:off x="6152769" y="2402097"/>
                <a:ext cx="2640360" cy="660962"/>
              </a:xfrm>
              <a:prstGeom prst="rect">
                <a:avLst/>
              </a:prstGeom>
            </p:spPr>
          </p:pic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5025E9FD-9D35-9242-8161-FC4AF54418AC}"/>
                  </a:ext>
                </a:extLst>
              </p:cNvPr>
              <p:cNvSpPr txBox="1"/>
              <p:nvPr/>
            </p:nvSpPr>
            <p:spPr>
              <a:xfrm>
                <a:off x="6035212" y="1546497"/>
                <a:ext cx="295465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zh-CN" altLang="en-US" sz="3500" b="1" dirty="0">
                    <a:solidFill>
                      <a:srgbClr val="033693"/>
                    </a:solidFill>
                    <a:latin typeface="+mn-ea"/>
                  </a:rPr>
                  <a:t>深圳技术大学</a:t>
                </a:r>
              </a:p>
            </p:txBody>
          </p:sp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414E8434-51BE-25A9-F269-78FDBBB39A6B}"/>
                  </a:ext>
                </a:extLst>
              </p:cNvPr>
              <p:cNvSpPr txBox="1"/>
              <p:nvPr/>
            </p:nvSpPr>
            <p:spPr>
              <a:xfrm>
                <a:off x="6075021" y="2061893"/>
                <a:ext cx="3082203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050" b="1" dirty="0">
                    <a:solidFill>
                      <a:srgbClr val="033693"/>
                    </a:solidFill>
                    <a:latin typeface="+mn-ea"/>
                  </a:rPr>
                  <a:t>SHENZHEN TECHNOLOGY UNIVERSITY</a:t>
                </a:r>
                <a:endParaRPr kumimoji="1" lang="zh-CN" altLang="en-US" sz="1050" b="1" dirty="0">
                  <a:solidFill>
                    <a:srgbClr val="033693"/>
                  </a:solidFill>
                  <a:latin typeface="+mn-ea"/>
                </a:endParaRP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4F8A8410-5858-352C-3314-DE4D99AF8A0E}"/>
                </a:ext>
              </a:extLst>
            </p:cNvPr>
            <p:cNvGrpSpPr/>
            <p:nvPr/>
          </p:nvGrpSpPr>
          <p:grpSpPr>
            <a:xfrm>
              <a:off x="6167218" y="3744540"/>
              <a:ext cx="2316558" cy="1166821"/>
              <a:chOff x="9233377" y="3698850"/>
              <a:chExt cx="2316558" cy="1166821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774F0CB2-1447-3089-102A-C1BB71958CB0}"/>
                  </a:ext>
                </a:extLst>
              </p:cNvPr>
              <p:cNvSpPr/>
              <p:nvPr/>
            </p:nvSpPr>
            <p:spPr>
              <a:xfrm>
                <a:off x="9233377" y="3698851"/>
                <a:ext cx="171880" cy="350635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4" name="三角形 33">
                <a:extLst>
                  <a:ext uri="{FF2B5EF4-FFF2-40B4-BE49-F238E27FC236}">
                    <a16:creationId xmlns:a16="http://schemas.microsoft.com/office/drawing/2014/main" id="{91F0805C-631C-9B3C-FD01-4A04196CA793}"/>
                  </a:ext>
                </a:extLst>
              </p:cNvPr>
              <p:cNvSpPr/>
              <p:nvPr/>
            </p:nvSpPr>
            <p:spPr>
              <a:xfrm rot="10800000">
                <a:off x="9233377" y="4049486"/>
                <a:ext cx="171880" cy="139588"/>
              </a:xfrm>
              <a:prstGeom prst="triangle">
                <a:avLst>
                  <a:gd name="adj" fmla="val 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03DCE086-03C4-673C-1882-B3AA10D02A09}"/>
                  </a:ext>
                </a:extLst>
              </p:cNvPr>
              <p:cNvSpPr/>
              <p:nvPr/>
            </p:nvSpPr>
            <p:spPr>
              <a:xfrm>
                <a:off x="9664395" y="3698851"/>
                <a:ext cx="171880" cy="693615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6" name="三角形 35">
                <a:extLst>
                  <a:ext uri="{FF2B5EF4-FFF2-40B4-BE49-F238E27FC236}">
                    <a16:creationId xmlns:a16="http://schemas.microsoft.com/office/drawing/2014/main" id="{51769838-1470-D233-566F-58BB06CE95F5}"/>
                  </a:ext>
                </a:extLst>
              </p:cNvPr>
              <p:cNvSpPr/>
              <p:nvPr/>
            </p:nvSpPr>
            <p:spPr>
              <a:xfrm rot="10800000">
                <a:off x="9664395" y="4392466"/>
                <a:ext cx="171880" cy="139588"/>
              </a:xfrm>
              <a:prstGeom prst="triangle">
                <a:avLst>
                  <a:gd name="adj" fmla="val 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33514F2D-51C6-D9BE-2D45-17FB4230C477}"/>
                  </a:ext>
                </a:extLst>
              </p:cNvPr>
              <p:cNvSpPr/>
              <p:nvPr/>
            </p:nvSpPr>
            <p:spPr>
              <a:xfrm>
                <a:off x="10095413" y="3698852"/>
                <a:ext cx="171880" cy="1027232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" name="三角形 37">
                <a:extLst>
                  <a:ext uri="{FF2B5EF4-FFF2-40B4-BE49-F238E27FC236}">
                    <a16:creationId xmlns:a16="http://schemas.microsoft.com/office/drawing/2014/main" id="{89B67B84-2482-7CD9-D878-6B306FE8D6D8}"/>
                  </a:ext>
                </a:extLst>
              </p:cNvPr>
              <p:cNvSpPr/>
              <p:nvPr/>
            </p:nvSpPr>
            <p:spPr>
              <a:xfrm rot="10800000">
                <a:off x="10095413" y="4726083"/>
                <a:ext cx="171880" cy="139588"/>
              </a:xfrm>
              <a:prstGeom prst="triangle">
                <a:avLst>
                  <a:gd name="adj" fmla="val 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7E815AA0-145A-791C-23E7-F5601038E42C}"/>
                  </a:ext>
                </a:extLst>
              </p:cNvPr>
              <p:cNvSpPr/>
              <p:nvPr/>
            </p:nvSpPr>
            <p:spPr>
              <a:xfrm>
                <a:off x="10526431" y="3698851"/>
                <a:ext cx="171880" cy="1027232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0" name="三角形 39">
                <a:extLst>
                  <a:ext uri="{FF2B5EF4-FFF2-40B4-BE49-F238E27FC236}">
                    <a16:creationId xmlns:a16="http://schemas.microsoft.com/office/drawing/2014/main" id="{0EECEA81-A4E9-1ECC-07B8-D5DCDBA602D0}"/>
                  </a:ext>
                </a:extLst>
              </p:cNvPr>
              <p:cNvSpPr/>
              <p:nvPr/>
            </p:nvSpPr>
            <p:spPr>
              <a:xfrm rot="10800000">
                <a:off x="10526431" y="4721034"/>
                <a:ext cx="171880" cy="139588"/>
              </a:xfrm>
              <a:prstGeom prst="triangle">
                <a:avLst>
                  <a:gd name="adj" fmla="val 10000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30B295F4-144D-1C80-49E5-04FA02C3F06D}"/>
                  </a:ext>
                </a:extLst>
              </p:cNvPr>
              <p:cNvSpPr/>
              <p:nvPr/>
            </p:nvSpPr>
            <p:spPr>
              <a:xfrm>
                <a:off x="10954266" y="3698850"/>
                <a:ext cx="171880" cy="693615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2" name="三角形 41">
                <a:extLst>
                  <a:ext uri="{FF2B5EF4-FFF2-40B4-BE49-F238E27FC236}">
                    <a16:creationId xmlns:a16="http://schemas.microsoft.com/office/drawing/2014/main" id="{E4CB2833-83B8-F558-46CA-B636A7027FA1}"/>
                  </a:ext>
                </a:extLst>
              </p:cNvPr>
              <p:cNvSpPr/>
              <p:nvPr/>
            </p:nvSpPr>
            <p:spPr>
              <a:xfrm rot="10800000">
                <a:off x="10954266" y="4381871"/>
                <a:ext cx="171880" cy="139588"/>
              </a:xfrm>
              <a:prstGeom prst="triangle">
                <a:avLst>
                  <a:gd name="adj" fmla="val 10000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88B45F1A-4BE8-C523-EA6A-96BFB4DBB8BD}"/>
                  </a:ext>
                </a:extLst>
              </p:cNvPr>
              <p:cNvSpPr/>
              <p:nvPr/>
            </p:nvSpPr>
            <p:spPr>
              <a:xfrm>
                <a:off x="11378055" y="3698850"/>
                <a:ext cx="171880" cy="350635"/>
              </a:xfrm>
              <a:prstGeom prst="rect">
                <a:avLst/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4" name="三角形 43">
                <a:extLst>
                  <a:ext uri="{FF2B5EF4-FFF2-40B4-BE49-F238E27FC236}">
                    <a16:creationId xmlns:a16="http://schemas.microsoft.com/office/drawing/2014/main" id="{7D32DC81-F51D-ABD5-B364-5177338ED3B0}"/>
                  </a:ext>
                </a:extLst>
              </p:cNvPr>
              <p:cNvSpPr/>
              <p:nvPr/>
            </p:nvSpPr>
            <p:spPr>
              <a:xfrm rot="10800000">
                <a:off x="11378055" y="4044436"/>
                <a:ext cx="171880" cy="139588"/>
              </a:xfrm>
              <a:prstGeom prst="triangle">
                <a:avLst>
                  <a:gd name="adj" fmla="val 100000"/>
                </a:avLst>
              </a:prstGeom>
              <a:solidFill>
                <a:srgbClr val="03369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63736373-1528-6835-A13C-AD3B277D4F32}"/>
              </a:ext>
            </a:extLst>
          </p:cNvPr>
          <p:cNvSpPr txBox="1"/>
          <p:nvPr/>
        </p:nvSpPr>
        <p:spPr>
          <a:xfrm>
            <a:off x="989021" y="5495068"/>
            <a:ext cx="332655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rgbClr val="033693"/>
                </a:solidFill>
                <a:latin typeface="STXingkai" panose="02010800040101010101" pitchFamily="2" charset="-122"/>
                <a:ea typeface="STXingkai" panose="02010800040101010101" pitchFamily="2" charset="-122"/>
              </a:rPr>
              <a:t>唯实求精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2A3917D-9F7B-4178-EDB9-79704B6C1DB9}"/>
              </a:ext>
            </a:extLst>
          </p:cNvPr>
          <p:cNvSpPr txBox="1">
            <a:spLocks/>
          </p:cNvSpPr>
          <p:nvPr/>
        </p:nvSpPr>
        <p:spPr>
          <a:xfrm>
            <a:off x="1146183" y="2706463"/>
            <a:ext cx="2601344" cy="11246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谢谢！</a:t>
            </a:r>
            <a:endParaRPr lang="en-GB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10445A5-33CC-EFC8-A449-23111A6CFDE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470"/>
          <a:stretch>
            <a:fillRect/>
          </a:stretch>
        </p:blipFill>
        <p:spPr bwMode="auto">
          <a:xfrm>
            <a:off x="10933480" y="160796"/>
            <a:ext cx="1076960" cy="920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142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7991</TotalTime>
  <Words>429</Words>
  <Application>Microsoft Macintosh PowerPoint</Application>
  <PresentationFormat>宽屏</PresentationFormat>
  <Paragraphs>173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.AppleSystemUIFont</vt:lpstr>
      <vt:lpstr>.PingFang SC</vt:lpstr>
      <vt:lpstr>DengXian</vt:lpstr>
      <vt:lpstr>DengXian</vt:lpstr>
      <vt:lpstr>STXingkai</vt:lpstr>
      <vt:lpstr>微软雅黑</vt:lpstr>
      <vt:lpstr>微软雅黑</vt:lpstr>
      <vt:lpstr>Arial</vt:lpstr>
      <vt:lpstr>Helvetica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rokmy</dc:creator>
  <cp:lastModifiedBy>京晨 陈</cp:lastModifiedBy>
  <cp:revision>86</cp:revision>
  <dcterms:created xsi:type="dcterms:W3CDTF">2023-06-10T04:43:43Z</dcterms:created>
  <dcterms:modified xsi:type="dcterms:W3CDTF">2025-07-14T05:33:59Z</dcterms:modified>
</cp:coreProperties>
</file>